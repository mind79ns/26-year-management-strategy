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2060"/>
            </a:gs>
            <a:gs pos="100000">
              <a:srgbClr val="0066CC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2026년 경영전략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918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>
                <a:solidFill>
                  <a:srgbClr val="ADD8E6"/>
                </a:solidFill>
              </a:defRPr>
            </a:pPr>
            <a:r>
              <a:t>자동화 제조라인 스마트화를 통한</a:t>
            </a:r>
          </a:p>
          <a:p>
            <a:pPr algn="ctr">
              <a:defRPr sz="2600">
                <a:solidFill>
                  <a:srgbClr val="ADD8E6"/>
                </a:solidFill>
              </a:defRPr>
            </a:pPr>
            <a:r>
              <a:t>가공비 절감 및 품질 개선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4572000"/>
            <a:ext cx="20116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002060"/>
                </a:solidFill>
              </a:defRPr>
            </a:pPr>
            <a:r>
              <a:t>가공비</a:t>
            </a:r>
          </a:p>
          <a:p>
            <a:pPr algn="ctr">
              <a:defRPr sz="2800" b="1">
                <a:solidFill>
                  <a:srgbClr val="D32F2F"/>
                </a:solidFill>
              </a:defRPr>
            </a:pPr>
            <a:r>
              <a:t>-10%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4572000"/>
            <a:ext cx="20116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002060"/>
                </a:solidFill>
              </a:defRPr>
            </a:pPr>
            <a:r>
              <a:t>품질불량</a:t>
            </a:r>
          </a:p>
          <a:p>
            <a:pPr algn="ctr">
              <a:defRPr sz="2800" b="1">
                <a:solidFill>
                  <a:srgbClr val="D32F2F"/>
                </a:solidFill>
              </a:defRPr>
            </a:pPr>
            <a:r>
              <a:t>-10%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4572000"/>
            <a:ext cx="20116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002060"/>
                </a:solidFill>
              </a:defRPr>
            </a:pPr>
            <a:r>
              <a:t>손실시간</a:t>
            </a:r>
          </a:p>
          <a:p>
            <a:pPr algn="ctr">
              <a:defRPr sz="2800" b="1">
                <a:solidFill>
                  <a:srgbClr val="D32F2F"/>
                </a:solidFill>
              </a:defRPr>
            </a:pPr>
            <a:r>
              <a:t>-5%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D8E6"/>
                </a:solidFill>
              </a:defRPr>
            </a:pPr>
            <a:r>
              <a:t>제조1팀  |  Manufacturing Team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2060"/>
                </a:solidFill>
              </a:defRPr>
            </a:pPr>
            <a:r>
              <a:t>목표 및 현황 분석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777240"/>
            <a:ext cx="1828800" cy="457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4023360" cy="4754880"/>
          </a:xfrm>
          <a:prstGeom prst="roundRect">
            <a:avLst/>
          </a:prstGeom>
          <a:solidFill>
            <a:srgbClr val="FFF5F5"/>
          </a:solidFill>
          <a:ln w="254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/>
          <a:lstStyle/>
          <a:p>
            <a:pPr algn="ctr">
              <a:spcAft>
                <a:spcPts val="1500"/>
              </a:spcAft>
              <a:defRPr sz="2400" b="1">
                <a:solidFill>
                  <a:srgbClr val="D32F2F"/>
                </a:solidFill>
              </a:defRPr>
            </a:pPr>
            <a:r>
              <a:t>⚠️ 현재 문제점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1">
                <a:solidFill>
                  <a:srgbClr val="616161"/>
                </a:solidFill>
              </a:defRPr>
            </a:pPr>
            <a:r>
              <a:t>1. 느린 대응</a:t>
            </a:r>
          </a:p>
          <a:p>
            <a:pPr lvl="1">
              <a:spcAft>
                <a:spcPts val="300"/>
              </a:spcAft>
              <a:defRPr sz="1300">
                <a:solidFill>
                  <a:srgbClr val="616161"/>
                </a:solidFill>
              </a:defRPr>
            </a:pPr>
            <a:r>
              <a:t>• 설비 이상 발견 → DATA 집계 → 대응</a:t>
            </a:r>
          </a:p>
          <a:p>
            <a:pPr lvl="1">
              <a:spcAft>
                <a:spcPts val="300"/>
              </a:spcAft>
              <a:defRPr sz="1300">
                <a:solidFill>
                  <a:srgbClr val="616161"/>
                </a:solidFill>
              </a:defRPr>
            </a:pPr>
            <a:r>
              <a:t>• 기회 손실 지속 발생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1">
                <a:solidFill>
                  <a:srgbClr val="616161"/>
                </a:solidFill>
              </a:defRPr>
            </a:pPr>
            <a:r>
              <a:t>2. 반복 작업</a:t>
            </a:r>
          </a:p>
          <a:p>
            <a:pPr lvl="1">
              <a:spcAft>
                <a:spcPts val="300"/>
              </a:spcAft>
              <a:defRPr sz="1300">
                <a:solidFill>
                  <a:srgbClr val="616161"/>
                </a:solidFill>
              </a:defRPr>
            </a:pPr>
            <a:r>
              <a:t>• 수동적 원인 분석</a:t>
            </a:r>
          </a:p>
          <a:p>
            <a:pPr lvl="1">
              <a:spcAft>
                <a:spcPts val="300"/>
              </a:spcAft>
              <a:defRPr sz="1300">
                <a:solidFill>
                  <a:srgbClr val="616161"/>
                </a:solidFill>
              </a:defRPr>
            </a:pPr>
            <a:r>
              <a:t>• 업무 비효율 심화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1">
                <a:solidFill>
                  <a:srgbClr val="616161"/>
                </a:solidFill>
              </a:defRPr>
            </a:pPr>
            <a:r>
              <a:t>3. 품질 문제</a:t>
            </a:r>
          </a:p>
          <a:p>
            <a:pPr lvl="1">
              <a:spcAft>
                <a:spcPts val="300"/>
              </a:spcAft>
              <a:defRPr sz="1300">
                <a:solidFill>
                  <a:srgbClr val="616161"/>
                </a:solidFill>
              </a:defRPr>
            </a:pPr>
            <a:r>
              <a:t>• 불량 발생 원인 대응 지연</a:t>
            </a:r>
          </a:p>
          <a:p>
            <a:pPr lvl="1">
              <a:spcAft>
                <a:spcPts val="300"/>
              </a:spcAft>
              <a:defRPr sz="1300">
                <a:solidFill>
                  <a:srgbClr val="616161"/>
                </a:solidFill>
              </a:defRPr>
            </a:pPr>
            <a:r>
              <a:t>• 재발 방지 체계 미흡</a:t>
            </a:r>
          </a:p>
          <a:p>
            <a:pPr lvl="1">
              <a:spcAft>
                <a:spcPts val="300"/>
              </a:spcAft>
              <a:defRPr sz="1300">
                <a:solidFill>
                  <a:srgbClr val="616161"/>
                </a:solidFill>
              </a:defRPr>
            </a:pPr>
            <a:r>
              <a:t>• 현장 체감 저하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005840"/>
            <a:ext cx="4023360" cy="219456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28600"/>
          <a:lstStyle/>
          <a:p>
            <a:pPr algn="ctr">
              <a:spcAft>
                <a:spcPts val="1200"/>
              </a:spcAft>
              <a:defRPr sz="2400" b="1">
                <a:solidFill>
                  <a:srgbClr val="FFFFFF"/>
                </a:solidFill>
              </a:defRPr>
            </a:pPr>
            <a:r>
              <a:t>🎯 핵심 목표 (2026)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✓ 가공비 10% 절감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✓ 품질 불량 10% 감소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✓ 손실 시간 5% 감소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✓ OH(간접비) 달성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3566160"/>
            <a:ext cx="4023360" cy="21945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/>
          <a:lstStyle/>
          <a:p>
            <a:pPr algn="ctr">
              <a:spcAft>
                <a:spcPts val="1200"/>
              </a:spcAft>
              <a:defRPr sz="2400" b="1">
                <a:solidFill>
                  <a:srgbClr val="FFFFFF"/>
                </a:solidFill>
              </a:defRPr>
            </a:pPr>
            <a:r>
              <a:t>💡 기대 효과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→ 기회손실 최소화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→ 설비 CAPA 증가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→ OVERTIME 감소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→ 점당 가공비 직접 절감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16161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8229600" cy="64008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전략 1️⃣   손실 시간 제로화 프로젝트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8229600" cy="100584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spcAft>
                <a:spcPts val="800"/>
              </a:spcAft>
              <a:defRPr sz="2000" b="1">
                <a:solidFill>
                  <a:srgbClr val="0066CC"/>
                </a:solidFill>
              </a:defRPr>
            </a:pPr>
            <a:r>
              <a:t>💡 전략 개요</a:t>
            </a:r>
          </a:p>
          <a:p>
            <a:pPr>
              <a:defRPr sz="1500">
                <a:solidFill>
                  <a:srgbClr val="616161"/>
                </a:solidFill>
              </a:defRPr>
            </a:pPr>
            <a:r>
              <a:t>MES DATA 활용 자동분석 TOOL 구축 → 순간유실 가시화 → 초 단위 손실 기록 → 우선순위 타겟 집중 개선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560320"/>
            <a:ext cx="2560320" cy="228600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spcAft>
                <a:spcPts val="800"/>
              </a:spcAft>
              <a:defRPr sz="3200" b="1">
                <a:solidFill>
                  <a:srgbClr val="0066CC"/>
                </a:solidFill>
              </a:defRPr>
            </a:pPr>
            <a:r>
              <a:t>①</a:t>
            </a:r>
          </a:p>
          <a:p>
            <a:pPr algn="ctr">
              <a:spcAft>
                <a:spcPts val="1200"/>
              </a:spcAft>
              <a:defRPr sz="1600" b="1">
                <a:solidFill>
                  <a:srgbClr val="002060"/>
                </a:solidFill>
              </a:defRPr>
            </a:pPr>
            <a:r>
              <a:t>자동분석 TOOL 제작</a:t>
            </a:r>
          </a:p>
          <a:p>
            <a:pPr>
              <a:spcAft>
                <a:spcPts val="400"/>
              </a:spcAft>
              <a:defRPr sz="1200">
                <a:solidFill>
                  <a:srgbClr val="616161"/>
                </a:solidFill>
              </a:defRPr>
            </a:pPr>
            <a:r>
              <a:t>• MES DATA 활용 이상 감지</a:t>
            </a:r>
          </a:p>
          <a:p>
            <a:pPr>
              <a:spcAft>
                <a:spcPts val="400"/>
              </a:spcAft>
              <a:defRPr sz="1200">
                <a:solidFill>
                  <a:srgbClr val="616161"/>
                </a:solidFill>
              </a:defRPr>
            </a:pPr>
            <a:r>
              <a:t>• C/T 변화 모니터링 활성화</a:t>
            </a:r>
          </a:p>
          <a:p>
            <a:pPr>
              <a:spcAft>
                <a:spcPts val="400"/>
              </a:spcAft>
              <a:defRPr sz="1200">
                <a:solidFill>
                  <a:srgbClr val="616161"/>
                </a:solidFill>
              </a:defRPr>
            </a:pPr>
            <a:r>
              <a:t>• 실시간 알람 시스템 구축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2560320"/>
            <a:ext cx="2560320" cy="228600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spcAft>
                <a:spcPts val="800"/>
              </a:spcAft>
              <a:defRPr sz="3200" b="1">
                <a:solidFill>
                  <a:srgbClr val="0066CC"/>
                </a:solidFill>
              </a:defRPr>
            </a:pPr>
            <a:r>
              <a:t>②</a:t>
            </a:r>
          </a:p>
          <a:p>
            <a:pPr algn="ctr">
              <a:spcAft>
                <a:spcPts val="1200"/>
              </a:spcAft>
              <a:defRPr sz="1600" b="1">
                <a:solidFill>
                  <a:srgbClr val="002060"/>
                </a:solidFill>
              </a:defRPr>
            </a:pPr>
            <a:r>
              <a:t>순간유실 가시화</a:t>
            </a:r>
          </a:p>
          <a:p>
            <a:pPr>
              <a:spcAft>
                <a:spcPts val="400"/>
              </a:spcAft>
              <a:defRPr sz="1200">
                <a:solidFill>
                  <a:srgbClr val="616161"/>
                </a:solidFill>
              </a:defRPr>
            </a:pPr>
            <a:r>
              <a:t>• 초 단위 손실 기록</a:t>
            </a:r>
          </a:p>
          <a:p>
            <a:pPr>
              <a:spcAft>
                <a:spcPts val="400"/>
              </a:spcAft>
              <a:defRPr sz="1200">
                <a:solidFill>
                  <a:srgbClr val="616161"/>
                </a:solidFill>
              </a:defRPr>
            </a:pPr>
            <a:r>
              <a:t>• 모바일 앱 원터치 입력</a:t>
            </a:r>
          </a:p>
          <a:p>
            <a:pPr>
              <a:spcAft>
                <a:spcPts val="400"/>
              </a:spcAft>
              <a:defRPr sz="1200">
                <a:solidFill>
                  <a:srgbClr val="616161"/>
                </a:solidFill>
              </a:defRPr>
            </a:pPr>
            <a:r>
              <a:t>• LINE별 일/주/월 분석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560320"/>
            <a:ext cx="2560320" cy="228600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spcAft>
                <a:spcPts val="800"/>
              </a:spcAft>
              <a:defRPr sz="3200" b="1">
                <a:solidFill>
                  <a:srgbClr val="0066CC"/>
                </a:solidFill>
              </a:defRPr>
            </a:pPr>
            <a:r>
              <a:t>③</a:t>
            </a:r>
          </a:p>
          <a:p>
            <a:pPr algn="ctr">
              <a:spcAft>
                <a:spcPts val="1200"/>
              </a:spcAft>
              <a:defRPr sz="1600" b="1">
                <a:solidFill>
                  <a:srgbClr val="002060"/>
                </a:solidFill>
              </a:defRPr>
            </a:pPr>
            <a:r>
              <a:t>TOP 10 집중 개선</a:t>
            </a:r>
          </a:p>
          <a:p>
            <a:pPr>
              <a:spcAft>
                <a:spcPts val="400"/>
              </a:spcAft>
              <a:defRPr sz="1200">
                <a:solidFill>
                  <a:srgbClr val="616161"/>
                </a:solidFill>
              </a:defRPr>
            </a:pPr>
            <a:r>
              <a:t>• 손실 항목 순위화</a:t>
            </a:r>
          </a:p>
          <a:p>
            <a:pPr>
              <a:spcAft>
                <a:spcPts val="400"/>
              </a:spcAft>
              <a:defRPr sz="1200">
                <a:solidFill>
                  <a:srgbClr val="616161"/>
                </a:solidFill>
              </a:defRPr>
            </a:pPr>
            <a:r>
              <a:t>• WORST 품목 집중 타격</a:t>
            </a:r>
          </a:p>
          <a:p>
            <a:pPr>
              <a:spcAft>
                <a:spcPts val="400"/>
              </a:spcAft>
              <a:defRPr sz="1200">
                <a:solidFill>
                  <a:srgbClr val="616161"/>
                </a:solidFill>
              </a:defRPr>
            </a:pPr>
            <a:r>
              <a:t>• 주간 리포트 자동화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120640"/>
            <a:ext cx="8229600" cy="1005840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spcAft>
                <a:spcPts val="800"/>
              </a:spcAft>
              <a:defRPr sz="2200" b="1">
                <a:solidFill>
                  <a:srgbClr val="FFFFFF"/>
                </a:solidFill>
              </a:defRPr>
            </a:pPr>
            <a:r>
              <a:t>📊 핵심 KPI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손실시간 5% 감소  |  기회손실 최소화  |  점당 가공비 직접 절감 효과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16161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8229600" cy="640080"/>
          </a:xfrm>
          <a:prstGeom prst="round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전략 2️⃣   불량 재발 Zero 챌린지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8229600" cy="1005840"/>
          </a:xfrm>
          <a:prstGeom prst="roundRect">
            <a:avLst/>
          </a:prstGeom>
          <a:solidFill>
            <a:srgbClr val="FFDAB9"/>
          </a:solidFill>
          <a:ln w="25400"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spcAft>
                <a:spcPts val="800"/>
              </a:spcAft>
              <a:defRPr sz="2000" b="1">
                <a:solidFill>
                  <a:srgbClr val="FF7F27"/>
                </a:solidFill>
              </a:defRPr>
            </a:pPr>
            <a:r>
              <a:t>💡 전략 개요</a:t>
            </a:r>
          </a:p>
          <a:p>
            <a:pPr>
              <a:defRPr sz="1500">
                <a:solidFill>
                  <a:srgbClr val="616161"/>
                </a:solidFill>
              </a:defRPr>
            </a:pPr>
            <a:r>
              <a:t>불량 사진 즉시 공유 시스템 구축 → 전 조 자동 알람 → 재발 불량 추적 강화 → 조치사항 DB 구축 → 재발 Zero 달성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560320"/>
            <a:ext cx="2560320" cy="2286000"/>
          </a:xfrm>
          <a:prstGeom prst="roundRect">
            <a:avLst/>
          </a:prstGeom>
          <a:solidFill>
            <a:srgbClr val="FFDAB9"/>
          </a:solidFill>
          <a:ln w="25400"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spcAft>
                <a:spcPts val="800"/>
              </a:spcAft>
              <a:defRPr sz="3200" b="1">
                <a:solidFill>
                  <a:srgbClr val="FF7F27"/>
                </a:solidFill>
              </a:defRPr>
            </a:pPr>
            <a:r>
              <a:t>①</a:t>
            </a:r>
          </a:p>
          <a:p>
            <a:pPr algn="ctr">
              <a:spcAft>
                <a:spcPts val="1200"/>
              </a:spcAft>
              <a:defRPr sz="1600" b="1">
                <a:solidFill>
                  <a:srgbClr val="8B4513"/>
                </a:solidFill>
              </a:defRPr>
            </a:pPr>
            <a:r>
              <a:t>품질 즉시 FEEDBACK</a:t>
            </a:r>
          </a:p>
          <a:p>
            <a:pPr>
              <a:spcAft>
                <a:spcPts val="400"/>
              </a:spcAft>
              <a:defRPr sz="1200">
                <a:solidFill>
                  <a:srgbClr val="616161"/>
                </a:solidFill>
              </a:defRPr>
            </a:pPr>
            <a:r>
              <a:t>• 불량 사진 + MES 이력 연동</a:t>
            </a:r>
          </a:p>
          <a:p>
            <a:pPr>
              <a:spcAft>
                <a:spcPts val="400"/>
              </a:spcAft>
              <a:defRPr sz="1200">
                <a:solidFill>
                  <a:srgbClr val="616161"/>
                </a:solidFill>
              </a:defRPr>
            </a:pPr>
            <a:r>
              <a:t>• 모델/일자/LINE/담당자 자동 기록</a:t>
            </a:r>
          </a:p>
          <a:p>
            <a:pPr>
              <a:spcAft>
                <a:spcPts val="400"/>
              </a:spcAft>
              <a:defRPr sz="1200">
                <a:solidFill>
                  <a:srgbClr val="616161"/>
                </a:solidFill>
              </a:defRPr>
            </a:pPr>
            <a:r>
              <a:t>• 스마트폰 즉시 업로드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2560320"/>
            <a:ext cx="2560320" cy="2286000"/>
          </a:xfrm>
          <a:prstGeom prst="roundRect">
            <a:avLst/>
          </a:prstGeom>
          <a:solidFill>
            <a:srgbClr val="FFDAB9"/>
          </a:solidFill>
          <a:ln w="25400"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spcAft>
                <a:spcPts val="800"/>
              </a:spcAft>
              <a:defRPr sz="3200" b="1">
                <a:solidFill>
                  <a:srgbClr val="FF7F27"/>
                </a:solidFill>
              </a:defRPr>
            </a:pPr>
            <a:r>
              <a:t>②</a:t>
            </a:r>
          </a:p>
          <a:p>
            <a:pPr algn="ctr">
              <a:spcAft>
                <a:spcPts val="1200"/>
              </a:spcAft>
              <a:defRPr sz="1600" b="1">
                <a:solidFill>
                  <a:srgbClr val="8B4513"/>
                </a:solidFill>
              </a:defRPr>
            </a:pPr>
            <a:r>
              <a:t>전 조 자동 알람</a:t>
            </a:r>
          </a:p>
          <a:p>
            <a:pPr>
              <a:spcAft>
                <a:spcPts val="400"/>
              </a:spcAft>
              <a:defRPr sz="1200">
                <a:solidFill>
                  <a:srgbClr val="616161"/>
                </a:solidFill>
              </a:defRPr>
            </a:pPr>
            <a:r>
              <a:t>• 공정/설비 태그 자동 분류</a:t>
            </a:r>
          </a:p>
          <a:p>
            <a:pPr>
              <a:spcAft>
                <a:spcPts val="400"/>
              </a:spcAft>
              <a:defRPr sz="1200">
                <a:solidFill>
                  <a:srgbClr val="616161"/>
                </a:solidFill>
              </a:defRPr>
            </a:pPr>
            <a:r>
              <a:t>• 조치내용 한 줄 메모 공유</a:t>
            </a:r>
          </a:p>
          <a:p>
            <a:pPr>
              <a:spcAft>
                <a:spcPts val="400"/>
              </a:spcAft>
              <a:defRPr sz="1200">
                <a:solidFill>
                  <a:srgbClr val="616161"/>
                </a:solidFill>
              </a:defRPr>
            </a:pPr>
            <a:r>
              <a:t>• 주간조 → 야간조 자동 전달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560320"/>
            <a:ext cx="2560320" cy="2286000"/>
          </a:xfrm>
          <a:prstGeom prst="roundRect">
            <a:avLst/>
          </a:prstGeom>
          <a:solidFill>
            <a:srgbClr val="FFDAB9"/>
          </a:solidFill>
          <a:ln w="25400"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spcAft>
                <a:spcPts val="800"/>
              </a:spcAft>
              <a:defRPr sz="3200" b="1">
                <a:solidFill>
                  <a:srgbClr val="FF7F27"/>
                </a:solidFill>
              </a:defRPr>
            </a:pPr>
            <a:r>
              <a:t>③</a:t>
            </a:r>
          </a:p>
          <a:p>
            <a:pPr algn="ctr">
              <a:spcAft>
                <a:spcPts val="1200"/>
              </a:spcAft>
              <a:defRPr sz="1600" b="1">
                <a:solidFill>
                  <a:srgbClr val="8B4513"/>
                </a:solidFill>
              </a:defRPr>
            </a:pPr>
            <a:r>
              <a:t>재발 불량 추적</a:t>
            </a:r>
          </a:p>
          <a:p>
            <a:pPr>
              <a:spcAft>
                <a:spcPts val="400"/>
              </a:spcAft>
              <a:defRPr sz="1200">
                <a:solidFill>
                  <a:srgbClr val="616161"/>
                </a:solidFill>
              </a:defRPr>
            </a:pPr>
            <a:r>
              <a:t>• 동일 불량 자동 '재발' 표시</a:t>
            </a:r>
          </a:p>
          <a:p>
            <a:pPr>
              <a:spcAft>
                <a:spcPts val="400"/>
              </a:spcAft>
              <a:defRPr sz="1200">
                <a:solidFill>
                  <a:srgbClr val="616161"/>
                </a:solidFill>
              </a:defRPr>
            </a:pPr>
            <a:r>
              <a:t>• 월별 재발 불량 추적</a:t>
            </a:r>
          </a:p>
          <a:p>
            <a:pPr>
              <a:spcAft>
                <a:spcPts val="400"/>
              </a:spcAft>
              <a:defRPr sz="1200">
                <a:solidFill>
                  <a:srgbClr val="616161"/>
                </a:solidFill>
              </a:defRPr>
            </a:pPr>
            <a:r>
              <a:t>• 재발 Zero KPI화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120640"/>
            <a:ext cx="8229600" cy="1005840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spcAft>
                <a:spcPts val="800"/>
              </a:spcAft>
              <a:defRPr sz="2200" b="1">
                <a:solidFill>
                  <a:srgbClr val="FFFFFF"/>
                </a:solidFill>
              </a:defRPr>
            </a:pPr>
            <a:r>
              <a:t>📊 핵심 KPI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재발 불량 30% 감소  |  품질 불량 10% 감소  |  조치사항 DB 100% 구축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16161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8229600" cy="6400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전략 3️⃣   설비 CAPA 증가 및 공정 최적화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8229600" cy="100584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spcAft>
                <a:spcPts val="800"/>
              </a:spcAft>
              <a:defRPr sz="2000" b="1">
                <a:solidFill>
                  <a:srgbClr val="2E7D32"/>
                </a:solidFill>
              </a:defRPr>
            </a:pPr>
            <a:r>
              <a:t>💡 전략 개요</a:t>
            </a:r>
          </a:p>
          <a:p>
            <a:pPr>
              <a:defRPr sz="1500">
                <a:solidFill>
                  <a:srgbClr val="616161"/>
                </a:solidFill>
              </a:defRPr>
            </a:pPr>
            <a:r>
              <a:t>C/T 단축 DEEP 분석 → 단 1초라도 줄이기 위한 활동 → 설비 효율 성능/PM 지속 개선 → 공정 최적화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560320"/>
            <a:ext cx="2560320" cy="228600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spcAft>
                <a:spcPts val="800"/>
              </a:spcAft>
              <a:defRPr sz="3200" b="1">
                <a:solidFill>
                  <a:srgbClr val="2E7D32"/>
                </a:solidFill>
              </a:defRPr>
            </a:pPr>
            <a:r>
              <a:t>①</a:t>
            </a:r>
          </a:p>
          <a:p>
            <a:pPr algn="ctr">
              <a:spcAft>
                <a:spcPts val="1200"/>
              </a:spcAft>
              <a:defRPr sz="1600" b="1">
                <a:solidFill>
                  <a:srgbClr val="1B5E20"/>
                </a:solidFill>
              </a:defRPr>
            </a:pPr>
            <a:r>
              <a:t>C/T 단축 개선</a:t>
            </a:r>
          </a:p>
          <a:p>
            <a:pPr>
              <a:spcAft>
                <a:spcPts val="300"/>
              </a:spcAft>
              <a:defRPr sz="1100">
                <a:solidFill>
                  <a:srgbClr val="616161"/>
                </a:solidFill>
              </a:defRPr>
            </a:pPr>
            <a:r>
              <a:t>• 현 P/G 운영 DEEP 분석</a:t>
            </a:r>
          </a:p>
          <a:p>
            <a:pPr>
              <a:spcAft>
                <a:spcPts val="300"/>
              </a:spcAft>
              <a:defRPr sz="1100">
                <a:solidFill>
                  <a:srgbClr val="616161"/>
                </a:solidFill>
              </a:defRPr>
            </a:pPr>
            <a:r>
              <a:t>• 최단거리 프로세스 설계</a:t>
            </a:r>
          </a:p>
          <a:p>
            <a:pPr>
              <a:spcAft>
                <a:spcPts val="300"/>
              </a:spcAft>
              <a:defRPr sz="1100">
                <a:solidFill>
                  <a:srgbClr val="616161"/>
                </a:solidFill>
              </a:defRPr>
            </a:pPr>
            <a:r>
              <a:t>• 단 1초라도 줄이기 활동</a:t>
            </a:r>
          </a:p>
          <a:p>
            <a:pPr>
              <a:spcAft>
                <a:spcPts val="300"/>
              </a:spcAft>
              <a:defRPr sz="1100">
                <a:solidFill>
                  <a:srgbClr val="616161"/>
                </a:solidFill>
              </a:defRPr>
            </a:pPr>
            <a:r>
              <a:t>• 병목 공정 표적 개선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2560320"/>
            <a:ext cx="2560320" cy="228600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spcAft>
                <a:spcPts val="800"/>
              </a:spcAft>
              <a:defRPr sz="3200" b="1">
                <a:solidFill>
                  <a:srgbClr val="2E7D32"/>
                </a:solidFill>
              </a:defRPr>
            </a:pPr>
            <a:r>
              <a:t>②</a:t>
            </a:r>
          </a:p>
          <a:p>
            <a:pPr algn="ctr">
              <a:spcAft>
                <a:spcPts val="1200"/>
              </a:spcAft>
              <a:defRPr sz="1600" b="1">
                <a:solidFill>
                  <a:srgbClr val="1B5E20"/>
                </a:solidFill>
              </a:defRPr>
            </a:pPr>
            <a:r>
              <a:t>기본 BASE 강화</a:t>
            </a:r>
          </a:p>
          <a:p>
            <a:pPr>
              <a:spcAft>
                <a:spcPts val="300"/>
              </a:spcAft>
              <a:defRPr sz="1100">
                <a:solidFill>
                  <a:srgbClr val="616161"/>
                </a:solidFill>
              </a:defRPr>
            </a:pPr>
            <a:r>
              <a:t>• 설비 효율 유지 및 향상</a:t>
            </a:r>
          </a:p>
          <a:p>
            <a:pPr>
              <a:spcAft>
                <a:spcPts val="300"/>
              </a:spcAft>
              <a:defRPr sz="1100">
                <a:solidFill>
                  <a:srgbClr val="616161"/>
                </a:solidFill>
              </a:defRPr>
            </a:pPr>
            <a:r>
              <a:t>• 성능 관련 모든 활동 반복</a:t>
            </a:r>
          </a:p>
          <a:p>
            <a:pPr>
              <a:spcAft>
                <a:spcPts val="300"/>
              </a:spcAft>
              <a:defRPr sz="1100">
                <a:solidFill>
                  <a:srgbClr val="616161"/>
                </a:solidFill>
              </a:defRPr>
            </a:pPr>
            <a:r>
              <a:t>• PM(예방정비) 체계 강화</a:t>
            </a:r>
          </a:p>
          <a:p>
            <a:pPr>
              <a:spcAft>
                <a:spcPts val="300"/>
              </a:spcAft>
              <a:defRPr sz="1100">
                <a:solidFill>
                  <a:srgbClr val="616161"/>
                </a:solidFill>
              </a:defRPr>
            </a:pPr>
            <a:r>
              <a:t>• 지속적 모니터링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560320"/>
            <a:ext cx="2560320" cy="228600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spcAft>
                <a:spcPts val="800"/>
              </a:spcAft>
              <a:defRPr sz="3200" b="1">
                <a:solidFill>
                  <a:srgbClr val="2E7D32"/>
                </a:solidFill>
              </a:defRPr>
            </a:pPr>
            <a:r>
              <a:t>③</a:t>
            </a:r>
          </a:p>
          <a:p>
            <a:pPr algn="ctr">
              <a:spcAft>
                <a:spcPts val="1200"/>
              </a:spcAft>
              <a:defRPr sz="1600" b="1">
                <a:solidFill>
                  <a:srgbClr val="1B5E20"/>
                </a:solidFill>
              </a:defRPr>
            </a:pPr>
            <a:r>
              <a:t>공정 최적화</a:t>
            </a:r>
          </a:p>
          <a:p>
            <a:pPr>
              <a:spcAft>
                <a:spcPts val="300"/>
              </a:spcAft>
              <a:defRPr sz="1100">
                <a:solidFill>
                  <a:srgbClr val="616161"/>
                </a:solidFill>
              </a:defRPr>
            </a:pPr>
            <a:r>
              <a:t>• RADIAL2 수삽설비 안정화</a:t>
            </a:r>
          </a:p>
          <a:p>
            <a:pPr>
              <a:spcAft>
                <a:spcPts val="300"/>
              </a:spcAft>
              <a:defRPr sz="1100">
                <a:solidFill>
                  <a:srgbClr val="616161"/>
                </a:solidFill>
              </a:defRPr>
            </a:pPr>
            <a:r>
              <a:t>• SMD 공정 LAY OUT 개선</a:t>
            </a:r>
          </a:p>
          <a:p>
            <a:pPr>
              <a:spcAft>
                <a:spcPts val="300"/>
              </a:spcAft>
              <a:defRPr sz="1100">
                <a:solidFill>
                  <a:srgbClr val="616161"/>
                </a:solidFill>
              </a:defRPr>
            </a:pPr>
            <a:r>
              <a:t>• 최적 운영 방안 검토</a:t>
            </a:r>
          </a:p>
          <a:p>
            <a:pPr>
              <a:spcAft>
                <a:spcPts val="300"/>
              </a:spcAft>
              <a:defRPr sz="1100">
                <a:solidFill>
                  <a:srgbClr val="616161"/>
                </a:solidFill>
              </a:defRPr>
            </a:pPr>
            <a:r>
              <a:t>• 설비 배치 효율화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120640"/>
            <a:ext cx="8229600" cy="1005840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spcAft>
                <a:spcPts val="800"/>
              </a:spcAft>
              <a:defRPr sz="2200" b="1">
                <a:solidFill>
                  <a:srgbClr val="FFFFFF"/>
                </a:solidFill>
              </a:defRPr>
            </a:pPr>
            <a:r>
              <a:t>📊 핵심 KPI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설비 CAPA 증가  |  OVERTIME 감소  |  OH(간접비) 감소 달성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16161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2060"/>
                </a:solidFill>
              </a:defRPr>
            </a:pPr>
            <a:r>
              <a:t>실행 로드맵 및 종합 KPI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777240"/>
            <a:ext cx="1828800" cy="457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920240" cy="2011680"/>
          </a:xfrm>
          <a:prstGeom prst="round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37160"/>
          <a:lstStyle/>
          <a:p>
            <a:pPr algn="ctr">
              <a:spcAft>
                <a:spcPts val="1000"/>
              </a:spcAft>
              <a:defRPr sz="2800" b="1">
                <a:solidFill>
                  <a:srgbClr val="FFFFFF"/>
                </a:solidFill>
              </a:defRPr>
            </a:pPr>
            <a:r>
              <a:t>Q1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자동분석 TOOL 개발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모바일 앱 구축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불량 공유 시스템 개발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1188720"/>
            <a:ext cx="1920240" cy="201168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37160"/>
          <a:lstStyle/>
          <a:p>
            <a:pPr algn="ctr">
              <a:spcAft>
                <a:spcPts val="1000"/>
              </a:spcAft>
              <a:defRPr sz="2800" b="1">
                <a:solidFill>
                  <a:srgbClr val="FFFFFF"/>
                </a:solidFill>
              </a:defRPr>
            </a:pPr>
            <a:r>
              <a:t>Q2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시범 운영 및 피드백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전 조 확대 적용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C/T 분석 시작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188720"/>
            <a:ext cx="1920240" cy="2011680"/>
          </a:xfrm>
          <a:prstGeom prst="roundRect">
            <a:avLst/>
          </a:prstGeom>
          <a:solidFill>
            <a:srgbClr val="2A9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37160"/>
          <a:lstStyle/>
          <a:p>
            <a:pPr algn="ctr">
              <a:spcAft>
                <a:spcPts val="1000"/>
              </a:spcAft>
              <a:defRPr sz="2800" b="1">
                <a:solidFill>
                  <a:srgbClr val="FFFFFF"/>
                </a:solidFill>
              </a:defRPr>
            </a:pPr>
            <a:r>
              <a:t>Q3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전사 확대 운영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재발 불량 추적 강화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공정 최적화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188720"/>
            <a:ext cx="1920240" cy="201168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37160"/>
          <a:lstStyle/>
          <a:p>
            <a:pPr algn="ctr">
              <a:spcAft>
                <a:spcPts val="1000"/>
              </a:spcAft>
              <a:defRPr sz="2800" b="1">
                <a:solidFill>
                  <a:srgbClr val="FFFFFF"/>
                </a:solidFill>
              </a:defRPr>
            </a:pPr>
            <a:r>
              <a:t>Q4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목표 달성 점검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우수 사례 공유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차년도 계획 수립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2060"/>
                </a:solidFill>
              </a:defRPr>
            </a:pPr>
            <a:r>
              <a:t>📊 종합 KPI 대시보드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023360"/>
            <a:ext cx="2560320" cy="128016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가공비 절감</a:t>
            </a:r>
          </a:p>
          <a:p>
            <a:pPr algn="ctr">
              <a:defRPr sz="4200" b="1">
                <a:solidFill>
                  <a:srgbClr val="FFFFFF"/>
                </a:solidFill>
              </a:defRPr>
            </a:pPr>
            <a:r>
              <a:t>-10%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4023360"/>
            <a:ext cx="2560320" cy="1280160"/>
          </a:xfrm>
          <a:prstGeom prst="round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품질 개선</a:t>
            </a:r>
          </a:p>
          <a:p>
            <a:pPr algn="ctr">
              <a:defRPr sz="4200" b="1">
                <a:solidFill>
                  <a:srgbClr val="FFFFFF"/>
                </a:solidFill>
              </a:defRPr>
            </a:pPr>
            <a:r>
              <a:t>-10%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023360"/>
            <a:ext cx="2560320" cy="12801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손실 시간</a:t>
            </a:r>
          </a:p>
          <a:p>
            <a:pPr algn="ctr">
              <a:defRPr sz="4200" b="1">
                <a:solidFill>
                  <a:srgbClr val="FFFFFF"/>
                </a:solidFill>
              </a:defRPr>
            </a:pPr>
            <a:r>
              <a:t>-5%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577840"/>
            <a:ext cx="8229600" cy="109728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spcAft>
                <a:spcPts val="1000"/>
              </a:spcAft>
              <a:defRPr sz="2000" b="1">
                <a:solidFill>
                  <a:srgbClr val="002060"/>
                </a:solidFill>
              </a:defRPr>
            </a:pPr>
            <a:r>
              <a:t>🎯 최종 기대 효과</a:t>
            </a:r>
          </a:p>
          <a:p>
            <a:pPr algn="ctr">
              <a:defRPr sz="1600">
                <a:solidFill>
                  <a:srgbClr val="616161"/>
                </a:solidFill>
              </a:defRPr>
            </a:pPr>
            <a:r>
              <a:t>기회손실 최소화   |   설비 CAPA 증가   |   OVERTIME 감소   |   점당 가공비 직접 절감   |   OH 달성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16161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