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gradFill rotWithShape="1">
            <a:gsLst>
              <a:gs pos="0">
                <a:srgbClr val="D4AF37"/>
              </a:gs>
              <a:gs pos="100000">
                <a:srgbClr val="FFDF80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0" b="1">
                <a:solidFill>
                  <a:srgbClr val="233E60"/>
                </a:solidFill>
              </a:defRPr>
            </a:pPr>
            <a: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800" b="1">
                <a:solidFill>
                  <a:srgbClr val="FFFFFF"/>
                </a:solidFill>
              </a:defRPr>
            </a:pPr>
            <a:r>
              <a:t>경영전략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566160"/>
            <a:ext cx="365760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C0C0C0"/>
                </a:solidFill>
              </a:defRPr>
            </a:pPr>
            <a:r>
              <a:t>제조1팀  |  자동화 제조라인 스마트화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846320"/>
            <a:ext cx="1828800" cy="1280160"/>
          </a:xfrm>
          <a:prstGeom prst="roundRect">
            <a:avLst/>
          </a:prstGeom>
          <a:solidFill>
            <a:srgbClr val="1E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029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0C0C0"/>
                </a:solidFill>
              </a:defRPr>
            </a:pPr>
            <a:r>
              <a:t>가공비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5349240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t>↓ 10%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846320"/>
            <a:ext cx="1828800" cy="1280160"/>
          </a:xfrm>
          <a:prstGeom prst="roundRect">
            <a:avLst/>
          </a:prstGeom>
          <a:solidFill>
            <a:srgbClr val="1E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5029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0C0C0"/>
                </a:solidFill>
              </a:defRPr>
            </a:pPr>
            <a:r>
              <a:t>품질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5349240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t>↑ 10%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846320"/>
            <a:ext cx="1828800" cy="1280160"/>
          </a:xfrm>
          <a:prstGeom prst="roundRect">
            <a:avLst/>
          </a:prstGeom>
          <a:solidFill>
            <a:srgbClr val="1E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5029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0C0C0"/>
                </a:solidFill>
              </a:defRPr>
            </a:pPr>
            <a:r>
              <a:t>효율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349240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t>↑ 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  <a:defRPr sz="1400">
                <a:solidFill>
                  <a:srgbClr val="607D8B"/>
                </a:solidFill>
              </a:defRPr>
            </a:pPr>
            <a:r>
              <a:t>01</a:t>
            </a:r>
          </a:p>
          <a:p>
            <a:pPr algn="l">
              <a:defRPr sz="3200" b="1">
                <a:solidFill>
                  <a:srgbClr val="0F2038"/>
                </a:solidFill>
              </a:defRPr>
            </a:pPr>
            <a:r>
              <a:t>현황 분석 및 전략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gradFill rotWithShape="1">
            <a:gsLst>
              <a:gs pos="0">
                <a:srgbClr val="D4AF37"/>
              </a:gs>
              <a:gs pos="100000">
                <a:srgbClr val="FFDF8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931920" cy="4389120"/>
          </a:xfrm>
          <a:prstGeom prst="roundRect">
            <a:avLst/>
          </a:prstGeom>
          <a:solidFill>
            <a:srgbClr val="0F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74320" bIns="274320"/>
          <a:lstStyle/>
          <a:p>
            <a:pPr algn="l">
              <a:spcAft>
                <a:spcPts val="500"/>
              </a:spcAft>
              <a:defRPr sz="1100">
                <a:solidFill>
                  <a:srgbClr val="C0C0C0"/>
                </a:solidFill>
              </a:defRPr>
            </a:pPr>
            <a:r>
              <a:t>Current Challenges</a:t>
            </a:r>
          </a:p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현재 문제점</a:t>
            </a:r>
          </a:p>
          <a:p>
            <a:pPr>
              <a:spcAft>
                <a:spcPts val="500"/>
              </a:spcAft>
              <a:defRPr sz="2000">
                <a:solidFill>
                  <a:srgbClr val="D4AF37"/>
                </a:solidFill>
              </a:defRPr>
            </a:pPr>
            <a:r>
              <a:t>⚠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느린 대응</a:t>
            </a:r>
          </a:p>
          <a:p>
            <a:pPr>
              <a:spcAft>
                <a:spcPts val="1800"/>
              </a:spcAft>
              <a:defRPr sz="1200">
                <a:solidFill>
                  <a:srgbClr val="C0C0C0"/>
                </a:solidFill>
              </a:defRPr>
            </a:pPr>
            <a:r>
              <a:t>설비 이상 발견 → DATA 집계 → 대응</a:t>
            </a:r>
            <a:br/>
            <a:r>
              <a:t>기회 손실 지속 발생</a:t>
            </a:r>
          </a:p>
          <a:p>
            <a:pPr>
              <a:spcAft>
                <a:spcPts val="500"/>
              </a:spcAft>
              <a:defRPr sz="2000">
                <a:solidFill>
                  <a:srgbClr val="D4AF37"/>
                </a:solidFill>
              </a:defRPr>
            </a:pPr>
            <a:r>
              <a:t>↻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반복 작업</a:t>
            </a:r>
          </a:p>
          <a:p>
            <a:pPr>
              <a:spcAft>
                <a:spcPts val="1800"/>
              </a:spcAft>
              <a:defRPr sz="1200">
                <a:solidFill>
                  <a:srgbClr val="C0C0C0"/>
                </a:solidFill>
              </a:defRPr>
            </a:pPr>
            <a:r>
              <a:t>수동적 원인 분석</a:t>
            </a:r>
            <a:br/>
            <a:r>
              <a:t>업무 비효율 심화</a:t>
            </a:r>
          </a:p>
          <a:p>
            <a:pPr>
              <a:spcAft>
                <a:spcPts val="500"/>
              </a:spcAft>
              <a:defRPr sz="2000">
                <a:solidFill>
                  <a:srgbClr val="D4AF37"/>
                </a:solidFill>
              </a:defRPr>
            </a:pPr>
            <a:r>
              <a:t>!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</a:defRPr>
            </a:pPr>
            <a:r>
              <a:t>품질 문제</a:t>
            </a:r>
          </a:p>
          <a:p>
            <a:pPr>
              <a:spcAft>
                <a:spcPts val="1800"/>
              </a:spcAft>
              <a:defRPr sz="1200">
                <a:solidFill>
                  <a:srgbClr val="C0C0C0"/>
                </a:solidFill>
              </a:defRPr>
            </a:pPr>
            <a:r>
              <a:t>불량 원인 대응 지연</a:t>
            </a:r>
            <a:br/>
            <a:r>
              <a:t>재발 방지 체계 미흡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828800"/>
            <a:ext cx="40233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500"/>
              </a:spcAft>
              <a:defRPr sz="1100">
                <a:solidFill>
                  <a:srgbClr val="607D8B"/>
                </a:solidFill>
              </a:defRPr>
            </a:pPr>
            <a:r>
              <a:t>2026 Target</a:t>
            </a:r>
          </a:p>
          <a:p>
            <a:pPr>
              <a:spcAft>
                <a:spcPts val="1500"/>
              </a:spcAft>
              <a:defRPr sz="2200" b="1">
                <a:solidFill>
                  <a:srgbClr val="0F2038"/>
                </a:solidFill>
              </a:defRPr>
            </a:pPr>
            <a:r>
              <a:t>핵심 목표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▪ 가공비 10% 절감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▪ 품질 불량 10% 감소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▪ 손실 시간 5% 감소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114800"/>
            <a:ext cx="40233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228600"/>
          <a:lstStyle/>
          <a:p>
            <a:pPr algn="ctr">
              <a:spcAft>
                <a:spcPts val="500"/>
              </a:spcAft>
              <a:defRPr sz="1100">
                <a:solidFill>
                  <a:srgbClr val="607D8B"/>
                </a:solidFill>
              </a:defRPr>
            </a:pPr>
            <a:r>
              <a:t>Expected Impact</a:t>
            </a:r>
          </a:p>
          <a:p>
            <a:pPr>
              <a:spcAft>
                <a:spcPts val="1500"/>
              </a:spcAft>
              <a:defRPr sz="2200" b="1">
                <a:solidFill>
                  <a:srgbClr val="0F2038"/>
                </a:solidFill>
              </a:defRPr>
            </a:pPr>
            <a:r>
              <a:t>기대 효과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→ 기회손실 최소화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→ 설비 CAPA 증가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→ OVERTIME 감소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→ 점당 가공비 직접 절감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4114800"/>
            <a:ext cx="73152" cy="2103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07D8B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607D8B"/>
                </a:solidFill>
              </a:defRPr>
            </a:pPr>
            <a:r>
              <a:t>02</a:t>
            </a:r>
          </a:p>
          <a:p>
            <a:pPr>
              <a:defRPr sz="3200" b="1">
                <a:solidFill>
                  <a:srgbClr val="0F2038"/>
                </a:solidFill>
              </a:defRPr>
            </a:pPr>
            <a:r>
              <a:t>전략 1   손실 시간 제로화 프로젝트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gradFill rotWithShape="1">
            <a:gsLst>
              <a:gs pos="0">
                <a:srgbClr val="2980B9"/>
              </a:gs>
              <a:gs pos="100000">
                <a:srgbClr val="64B5F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0F2038"/>
                </a:solidFill>
              </a:defRPr>
            </a:pPr>
            <a:r>
              <a:t>전략 개요  </a:t>
            </a:r>
          </a:p>
          <a:p>
            <a:pPr>
              <a:spcBef>
                <a:spcPts val="500"/>
              </a:spcBef>
              <a:defRPr sz="1400">
                <a:solidFill>
                  <a:srgbClr val="212121"/>
                </a:solidFill>
              </a:defRPr>
            </a:pPr>
            <a:r>
              <a:t>MES DATA 활용 자동분석 TOOL 구축 → 순간유실 가시화 → 초 단위 손실 기록 → 우선순위 집중 개선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25603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256032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2038"/>
                </a:solidFill>
              </a:defRPr>
            </a:pPr>
            <a:r>
              <a:t>자동분석 TOOL 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MES DATA 활용 이상 감지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C/T 변화 모니터링 활성화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실시간 알람 시스템 구축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834640"/>
            <a:ext cx="25603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834640"/>
            <a:ext cx="256032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2038"/>
                </a:solidFill>
              </a:defRPr>
            </a:pPr>
            <a:r>
              <a:t>순간유실 가시화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06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초 단위 손실 기록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모바일 앱 원터치 입력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LINE별 일/주/월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834640"/>
            <a:ext cx="25603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2834640"/>
            <a:ext cx="256032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8346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2038"/>
                </a:solidFill>
              </a:defRPr>
            </a:pPr>
            <a:r>
              <a:t>TOP 10 집중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06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손실 항목 순위화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WORST 품목 집중 타격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주간 리포트 자동화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126480"/>
            <a:ext cx="8229600" cy="548640"/>
          </a:xfrm>
          <a:prstGeom prst="round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KPI   손실시간 5% 감소 → 점당 가공비 직접 절감 효과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26480"/>
            <a:ext cx="8229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07D8B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607D8B"/>
                </a:solidFill>
              </a:defRPr>
            </a:pPr>
            <a:r>
              <a:t>03</a:t>
            </a:r>
          </a:p>
          <a:p>
            <a:pPr>
              <a:defRPr sz="3200" b="1">
                <a:solidFill>
                  <a:srgbClr val="0F2038"/>
                </a:solidFill>
              </a:defRPr>
            </a:pPr>
            <a:r>
              <a:t>전략 2   불량 재발 Zero 챌린지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gradFill rotWithShape="1">
            <a:gsLst>
              <a:gs pos="0">
                <a:srgbClr val="27AE60"/>
              </a:gs>
              <a:gs pos="100000">
                <a:srgbClr val="A9DFBF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0F2038"/>
                </a:solidFill>
              </a:defRPr>
            </a:pPr>
            <a:r>
              <a:t>전략 개요  </a:t>
            </a:r>
          </a:p>
          <a:p>
            <a:pPr>
              <a:spcBef>
                <a:spcPts val="500"/>
              </a:spcBef>
              <a:defRPr sz="1400">
                <a:solidFill>
                  <a:srgbClr val="212121"/>
                </a:solidFill>
              </a:defRPr>
            </a:pPr>
            <a:r>
              <a:t>불량 사진 즉시 공유 시스템 → 전 조 자동 알람 → 재발 불량 추적 강화 → 조치사항 DB 구축 → 재발 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25603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25603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8"/>
                </a:solidFill>
              </a:defRPr>
            </a:pPr>
            <a:r>
              <a:t>품질 즉시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불량 사진 + MES 이력 연동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모델/일자/LINE/담당자 자동 기록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스마트폰 즉시 업로드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834640"/>
            <a:ext cx="25603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834640"/>
            <a:ext cx="25603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8"/>
                </a:solidFill>
              </a:defRPr>
            </a:pPr>
            <a:r>
              <a:t>전 조 자동 알람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06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공정/설비 태그 자동 분류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조치내용 한 줄 메모 공유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주간조 → 야간조 자동 전달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834640"/>
            <a:ext cx="25603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2834640"/>
            <a:ext cx="25603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8346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8"/>
                </a:solidFill>
              </a:defRPr>
            </a:pPr>
            <a:r>
              <a:t>재발 불량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06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동일 불량 자동 '재발' 표시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월별 재발 불량 추적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재발 Zero KPI화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126480"/>
            <a:ext cx="8229600" cy="548640"/>
          </a:xfrm>
          <a:prstGeom prst="round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KPI   재발 불량 30% 감소 / 품질 불량 10% 감소 목표 달성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26480"/>
            <a:ext cx="8229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07D8B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607D8B"/>
                </a:solidFill>
              </a:defRPr>
            </a:pPr>
            <a:r>
              <a:t>04</a:t>
            </a:r>
          </a:p>
          <a:p>
            <a:pPr>
              <a:defRPr sz="3200" b="1">
                <a:solidFill>
                  <a:srgbClr val="0F2038"/>
                </a:solidFill>
              </a:defRPr>
            </a:pPr>
            <a:r>
              <a:t>전략 3   설비 CAPA 증가 및 공정 최적화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gradFill rotWithShape="1">
            <a:gsLst>
              <a:gs pos="0">
                <a:srgbClr val="E67E22"/>
              </a:gs>
              <a:gs pos="100000">
                <a:srgbClr val="F5CBA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0F2038"/>
                </a:solidFill>
              </a:defRPr>
            </a:pPr>
            <a:r>
              <a:t>전략 개요  </a:t>
            </a:r>
          </a:p>
          <a:p>
            <a:pPr>
              <a:spcBef>
                <a:spcPts val="500"/>
              </a:spcBef>
              <a:defRPr sz="1400">
                <a:solidFill>
                  <a:srgbClr val="212121"/>
                </a:solidFill>
              </a:defRPr>
            </a:pPr>
            <a:r>
              <a:t>C/T 단축 DEEP 분석 → 단 1초라도 줄이기 → 설비 효율 성능/PM 지속 개선 → 공정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25603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256032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8"/>
                </a:solidFill>
              </a:defRPr>
            </a:pPr>
            <a:r>
              <a:t>C/T 단축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현 P/G 운영 DEEP 분석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최단거리 프로세스 설계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단 1초라도 줄이기 활동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병목 공정 표적 개선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834640"/>
            <a:ext cx="25603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834640"/>
            <a:ext cx="256032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8"/>
                </a:solidFill>
              </a:defRPr>
            </a:pPr>
            <a:r>
              <a:t>기본 BASE 강화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06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설비 효율 유지 및 향상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성능 관련 모든 활동 반복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PM(예방정비) 체계 강화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지속적 모니터링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834640"/>
            <a:ext cx="25603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2834640"/>
            <a:ext cx="256032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8346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66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8"/>
                </a:solidFill>
              </a:defRPr>
            </a:pPr>
            <a:r>
              <a:t>공정 최적화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06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RADIAL2 수삽설비 안정화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SMD 공정 LAY OUT 개선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• 최적 운영 방안 검토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126480"/>
            <a:ext cx="8229600" cy="548640"/>
          </a:xfrm>
          <a:prstGeom prst="round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KPI   설비 CAPA 증가 / OVERTIME 감소 / OH(간접비) 감소 달성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26480"/>
            <a:ext cx="8229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07D8B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607D8B"/>
                </a:solidFill>
              </a:defRPr>
            </a:pPr>
            <a:r>
              <a:t>05</a:t>
            </a:r>
          </a:p>
          <a:p>
            <a:pPr>
              <a:defRPr sz="3200" b="1">
                <a:solidFill>
                  <a:srgbClr val="0F2038"/>
                </a:solidFill>
              </a:defRPr>
            </a:pPr>
            <a:r>
              <a:t>2026 실행 로드맵 및 종합 KPI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gradFill rotWithShape="1">
            <a:gsLst>
              <a:gs pos="0">
                <a:srgbClr val="D4AF37"/>
              </a:gs>
              <a:gs pos="100000">
                <a:srgbClr val="FFDF8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828800" cy="4572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TOOL 개발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시스템 구축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앱 제작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82880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4600" y="1828800"/>
            <a:ext cx="18288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82880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688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파일럿 운영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피드백 반영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개선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18288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4688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전사 확대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교육 실시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모니터링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82880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1828800"/>
            <a:ext cx="1828800" cy="4572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82880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4688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목표 달성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성과 점검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▪ 2027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38"/>
                </a:solidFill>
              </a:defRPr>
            </a:pPr>
            <a:r>
              <a:t>종합 KPI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2560320" cy="146304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가공비 절감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6636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-10%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4663440"/>
            <a:ext cx="2560320" cy="1463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4846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품질 개선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16636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-10%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663440"/>
            <a:ext cx="2560320" cy="14630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846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손실시간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66360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-5%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07D8B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