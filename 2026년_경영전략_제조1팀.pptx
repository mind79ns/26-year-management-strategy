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3366"/>
                </a:solidFill>
              </a:defRPr>
            </a:pPr>
            <a:r>
              <a:t>2026년 경영전략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666666"/>
                </a:solidFill>
              </a:defRPr>
            </a:pPr>
            <a:r>
              <a:t>자동화 제조라인 스마트화를 통한 가공비 절감 및 품질 개선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554480"/>
            <a:ext cx="7315200" cy="1097280"/>
          </a:xfrm>
          <a:prstGeom prst="rect">
            <a:avLst/>
          </a:prstGeom>
          <a:solidFill>
            <a:srgbClr val="0066CC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bIns="91440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🎯 핵심 목표</a:t>
            </a:r>
          </a:p>
          <a:p>
            <a:pPr algn="ctr">
              <a:spcBef>
                <a:spcPts val="800"/>
              </a:spcBef>
              <a:defRPr sz="1600">
                <a:solidFill>
                  <a:srgbClr val="FFFFFF"/>
                </a:solidFill>
              </a:defRPr>
            </a:pPr>
            <a:r>
              <a:t>순간유실 개선  |  인력운영비 감소  |  점당가공비 10% 절감  |  품질불량 10% 감소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CC0000"/>
                </a:solidFill>
              </a:defRPr>
            </a:pPr>
            <a:r>
              <a:t>📌 현재 문제점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38328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333333"/>
                </a:solidFill>
              </a:defRPr>
            </a:pPr>
            <a:r>
              <a:t>① 느린 대응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</a:defRPr>
            </a:pPr>
            <a:r>
              <a:t>  설비 이상 DATA 집계 대응으로 기회손실 발생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</a:defRPr>
            </a:pPr>
          </a:p>
          <a:p>
            <a:pPr>
              <a:spcAft>
                <a:spcPts val="200"/>
              </a:spcAft>
              <a:defRPr sz="1400" b="1">
                <a:solidFill>
                  <a:srgbClr val="333333"/>
                </a:solidFill>
              </a:defRPr>
            </a:pPr>
            <a:r>
              <a:t>② 반복 작업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</a:defRPr>
            </a:pPr>
            <a:r>
              <a:t>  수동적 원인 분석으로 업무 비효율 심화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</a:defRPr>
            </a:pPr>
          </a:p>
          <a:p>
            <a:pPr>
              <a:spcAft>
                <a:spcPts val="200"/>
              </a:spcAft>
              <a:defRPr sz="1400" b="1">
                <a:solidFill>
                  <a:srgbClr val="333333"/>
                </a:solidFill>
              </a:defRPr>
            </a:pPr>
            <a:r>
              <a:t>③ 품질 문제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</a:defRPr>
            </a:pPr>
            <a:r>
              <a:t>  불량 발생 원인 대응 체감 저하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29260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9933"/>
                </a:solidFill>
              </a:defRPr>
            </a:pPr>
            <a:r>
              <a:t>✨ 기대 효과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338328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06633"/>
                </a:solidFill>
              </a:defRPr>
            </a:pPr>
            <a:r>
              <a:t>✓ 기회손실 최소화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</a:defRPr>
            </a:pPr>
            <a:r>
              <a:t>  → 손실시간 5% 감소 목표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</a:defRPr>
            </a:pPr>
          </a:p>
          <a:p>
            <a:pPr>
              <a:spcAft>
                <a:spcPts val="200"/>
              </a:spcAft>
              <a:defRPr sz="1400" b="1">
                <a:solidFill>
                  <a:srgbClr val="006633"/>
                </a:solidFill>
              </a:defRPr>
            </a:pPr>
            <a:r>
              <a:t>✓ 설비 CAPA 증가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</a:defRPr>
            </a:pPr>
            <a:r>
              <a:t>  → 생산성 향상 및 효율 개선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</a:defRPr>
            </a:pPr>
          </a:p>
          <a:p>
            <a:pPr>
              <a:spcAft>
                <a:spcPts val="200"/>
              </a:spcAft>
              <a:defRPr sz="1400" b="1">
                <a:solidFill>
                  <a:srgbClr val="006633"/>
                </a:solidFill>
              </a:defRPr>
            </a:pPr>
            <a:r>
              <a:t>✓ OVERTIME 감소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</a:defRPr>
            </a:pPr>
            <a:r>
              <a:t>  → 인력운영비 절감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</a:defRPr>
            </a:pPr>
          </a:p>
          <a:p>
            <a:pPr>
              <a:spcAft>
                <a:spcPts val="200"/>
              </a:spcAft>
              <a:defRPr sz="1400" b="1">
                <a:solidFill>
                  <a:srgbClr val="006633"/>
                </a:solidFill>
              </a:defRPr>
            </a:pPr>
            <a:r>
              <a:t>✓ 점당 가공비 10% 절감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</a:defRPr>
            </a:pPr>
            <a:r>
              <a:t>  → OH 감소 달성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808080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</a:defRPr>
            </a:pPr>
            <a:r>
              <a:t>전략 과제 및 실행 계획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solidFill>
            <a:srgbClr val="E6F0FF"/>
          </a:solidFill>
          <a:ln w="381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 wrap="square"/>
          <a:lstStyle/>
          <a:p>
            <a:pPr algn="ctr">
              <a:defRPr sz="2200" b="1">
                <a:solidFill>
                  <a:srgbClr val="003399"/>
                </a:solidFill>
              </a:defRPr>
            </a:pPr>
            <a:r>
              <a:t>전략 1️⃣  손실 시간 제로화 프로젝트</a:t>
            </a:r>
          </a:p>
          <a:p>
            <a:pPr>
              <a:spcAft>
                <a:spcPts val="300"/>
              </a:spcAft>
              <a:defRPr sz="1600" b="1">
                <a:solidFill>
                  <a:srgbClr val="0066CC"/>
                </a:solidFill>
              </a:defRPr>
            </a:pPr>
            <a:r>
              <a:t>▶ 핵심 액션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</a:defRPr>
            </a:pPr>
            <a:r>
              <a:t>   • 자동분석 TOOL 제작: MES DATA 활용한 이상 감지, C/T 변화, 모니터링 활성화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</a:defRPr>
            </a:pPr>
            <a:r>
              <a:t>   • 순간유실 가시화: 초 단위 손실 기록 → 세부 항목 원터치 이력 저장 (모바일 앱)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</a:defRPr>
            </a:pPr>
            <a:r>
              <a:t>   • TOP 10 집중 개선: LINE별 일/주/월 손실 분석 → 우선순위 타겟 개선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</a:defRPr>
            </a:pPr>
          </a:p>
          <a:p>
            <a:pPr>
              <a:spcAft>
                <a:spcPts val="300"/>
              </a:spcAft>
              <a:defRPr sz="1400" b="1">
                <a:solidFill>
                  <a:srgbClr val="CC0000"/>
                </a:solidFill>
              </a:defRPr>
            </a:pPr>
            <a:r>
              <a:t>📊 KPI:  손실시간 5% 감소  |  기회손실 최소화 → 점당 가공비 직접 절감 효과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926080"/>
            <a:ext cx="8229600" cy="1645920"/>
          </a:xfrm>
          <a:prstGeom prst="rect">
            <a:avLst/>
          </a:prstGeom>
          <a:solidFill>
            <a:srgbClr val="FFF0E6"/>
          </a:solidFill>
          <a:ln w="38100"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 wrap="square"/>
          <a:lstStyle/>
          <a:p>
            <a:pPr algn="ctr">
              <a:defRPr sz="2200" b="1">
                <a:solidFill>
                  <a:srgbClr val="CC3300"/>
                </a:solidFill>
              </a:defRPr>
            </a:pPr>
            <a:r>
              <a:t>전략 2️⃣  불량 재발 Zero 챌린지</a:t>
            </a:r>
          </a:p>
          <a:p>
            <a:pPr>
              <a:spcAft>
                <a:spcPts val="300"/>
              </a:spcAft>
              <a:defRPr sz="1600" b="1">
                <a:solidFill>
                  <a:srgbClr val="FF6600"/>
                </a:solidFill>
              </a:defRPr>
            </a:pPr>
            <a:r>
              <a:t>▶ 핵심 액션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</a:defRPr>
            </a:pPr>
            <a:r>
              <a:t>   • 품질 즉시 FEEDBACK: 불량 사진 + MES 이력정보 (모델/일자/LINE/담당자) 즉시 공유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</a:defRPr>
            </a:pPr>
            <a:r>
              <a:t>   • 전 조 자동 알람: 스마트폰 사진 업로드 → 공정/설비 태그 → 조치내용 공유 → 재발 방지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</a:defRPr>
            </a:pPr>
            <a:r>
              <a:t>   • 재발 불량 추적: 동일 불량 발생 시 자동 '재발' 표시 → 월별 추적 및 Zero 목표 KPI화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</a:defRPr>
            </a:pPr>
          </a:p>
          <a:p>
            <a:pPr>
              <a:spcAft>
                <a:spcPts val="300"/>
              </a:spcAft>
              <a:defRPr sz="1400" b="1">
                <a:solidFill>
                  <a:srgbClr val="CC0000"/>
                </a:solidFill>
              </a:defRPr>
            </a:pPr>
            <a:r>
              <a:t>📊 KPI:  재발 불량 30% 감소  |  품질 불량 10% 감소 목표 달성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754880"/>
            <a:ext cx="8229600" cy="1463040"/>
          </a:xfrm>
          <a:prstGeom prst="rect">
            <a:avLst/>
          </a:prstGeom>
          <a:solidFill>
            <a:srgbClr val="F0FFF0"/>
          </a:solidFill>
          <a:ln w="38100">
            <a:solidFill>
              <a:srgbClr val="00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 wrap="square"/>
          <a:lstStyle/>
          <a:p>
            <a:pPr algn="ctr">
              <a:defRPr sz="2200" b="1">
                <a:solidFill>
                  <a:srgbClr val="006633"/>
                </a:solidFill>
              </a:defRPr>
            </a:pPr>
            <a:r>
              <a:t>전략 3️⃣  설비 CAPA 증가 및 공정 최적화</a:t>
            </a:r>
          </a:p>
          <a:p>
            <a:pPr>
              <a:spcAft>
                <a:spcPts val="300"/>
              </a:spcAft>
              <a:defRPr sz="1600" b="1">
                <a:solidFill>
                  <a:srgbClr val="009933"/>
                </a:solidFill>
              </a:defRPr>
            </a:pPr>
            <a:r>
              <a:t>▶ 핵심 액션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</a:defRPr>
            </a:pPr>
            <a:r>
              <a:t>   • C/T 단축 개선: 현 P/G 운영 DEEP 분석 → 최단거리 단 1초라도 줄이기 위한 활동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</a:defRPr>
            </a:pPr>
            <a:r>
              <a:t>   • 기본 BASE 유지: 설비 효율 향상 위한 성능/PM 관련 모든 활동 반복 운영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</a:defRPr>
            </a:pPr>
            <a:r>
              <a:t>   • 기타 과제: RADIAL2 수삽설비 조기 안정화 / SMD 공정 LAY OUT 최적화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</a:defRPr>
            </a:pPr>
          </a:p>
          <a:p>
            <a:pPr>
              <a:spcAft>
                <a:spcPts val="300"/>
              </a:spcAft>
              <a:defRPr sz="1400" b="1">
                <a:solidFill>
                  <a:srgbClr val="CC0000"/>
                </a:solidFill>
              </a:defRPr>
            </a:pPr>
            <a:r>
              <a:t>📊 KPI:  CAPA 증가  |  OVERTIME 감소  |  OH 감소 달성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808080"/>
                </a:solidFill>
              </a:defRPr>
            </a:pPr>
            <a:r>
              <a:t>제조1팀  |  2026년 경영전략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808080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