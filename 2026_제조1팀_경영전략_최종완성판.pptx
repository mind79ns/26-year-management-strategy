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D4AF37"/>
                </a:solidFill>
              </a:defRPr>
            </a:pPr>
            <a:r>
              <a:t>2026년 경영전략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스마트 제조혁신을 통한 경쟁력 강화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572000"/>
            <a:ext cx="4572000" cy="1097280"/>
          </a:xfrm>
          <a:prstGeom prst="roundRect">
            <a:avLst/>
          </a:prstGeom>
          <a:solidFill>
            <a:srgbClr val="283C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D4AF37"/>
                </a:solidFill>
              </a:defRPr>
            </a:pPr>
            <a:r>
              <a:t>제조1팀</a:t>
            </a:r>
          </a:p>
          <a:p>
            <a:br/>
            <a:pPr algn="ctr">
              <a:defRPr sz="1400">
                <a:solidFill>
                  <a:srgbClr val="FFFFFF"/>
                </a:solidFill>
              </a:defRPr>
            </a:pPr>
            <a:r>
              <a:t>과거 5년 경험 + 최신 기술 = 스마트 혁신 완성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651760" cy="1188720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목표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FFFFFF"/>
                </a:solidFill>
              </a:defRPr>
            </a:pPr>
            <a:r>
              <a:t>가공비 10% 절감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097280"/>
            <a:ext cx="2651760" cy="118872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전략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FFFFFF"/>
                </a:solidFill>
              </a:defRPr>
            </a:pPr>
            <a:r>
              <a:t>4대 핵심 과제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097280"/>
            <a:ext cx="2651760" cy="118872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성과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FFFFFF"/>
                </a:solidFill>
              </a:defRPr>
            </a:pPr>
            <a:r>
              <a:t>품질 10% 향상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8229600" cy="13716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192A56"/>
                </a:solidFill>
              </a:defRPr>
            </a:pPr>
            <a:r>
              <a:t>🎯 핵심 인사이트 (5년 분석 결과)</a:t>
            </a:r>
          </a:p>
          <a:p>
            <a:pPr>
              <a:spcBef>
                <a:spcPts val="800"/>
              </a:spcBef>
              <a:defRPr sz="1400">
                <a:solidFill>
                  <a:srgbClr val="34495E"/>
                </a:solidFill>
              </a:defRPr>
            </a:pPr>
            <a:r>
              <a:t>• 개선 문화 완전 정착 (5년간 416회 언급, 조직 DNA화)</a:t>
            </a:r>
          </a:p>
          <a:p>
            <a:pPr>
              <a:spcBef>
                <a:spcPts val="800"/>
              </a:spcBef>
              <a:defRPr sz="1400">
                <a:solidFill>
                  <a:srgbClr val="34495E"/>
                </a:solidFill>
              </a:defRPr>
            </a:pPr>
            <a:r>
              <a:t>• 자동화 2배 성장 (21년 34회 → 25년 65회, 미래 핵심 경쟁력)</a:t>
            </a:r>
          </a:p>
          <a:p>
            <a:pPr>
              <a:spcBef>
                <a:spcPts val="800"/>
              </a:spcBef>
              <a:defRPr sz="1400">
                <a:solidFill>
                  <a:srgbClr val="34495E"/>
                </a:solidFill>
              </a:defRPr>
            </a:pPr>
            <a:r>
              <a:t>• 품질 관리 부상 (24년부터 10배 증가, 핵심 전략으로 전환)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8288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/>
            </a:pPr>
            <a:r>
              <a:t>⏱️</a:t>
            </a:r>
          </a:p>
          <a:p>
            <a:pPr algn="ctr">
              <a:spcBef>
                <a:spcPts val="500"/>
              </a:spcBef>
              <a:defRPr sz="1300" b="1">
                <a:solidFill>
                  <a:srgbClr val="192A56"/>
                </a:solidFill>
              </a:defRPr>
            </a:pPr>
            <a:r>
              <a:t>순간유실 Zero</a:t>
            </a:r>
          </a:p>
          <a:p>
            <a:pPr algn="ctr">
              <a:spcBef>
                <a:spcPts val="300"/>
              </a:spcBef>
              <a:defRPr sz="1100">
                <a:solidFill>
                  <a:srgbClr val="3498DB"/>
                </a:solidFill>
              </a:defRPr>
            </a:pPr>
            <a:r>
              <a:t>5% → 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4206240"/>
            <a:ext cx="18288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/>
            </a:pPr>
            <a:r>
              <a:t>🎯</a:t>
            </a:r>
          </a:p>
          <a:p>
            <a:pPr algn="ctr">
              <a:spcBef>
                <a:spcPts val="500"/>
              </a:spcBef>
              <a:defRPr sz="1300" b="1">
                <a:solidFill>
                  <a:srgbClr val="192A56"/>
                </a:solidFill>
              </a:defRPr>
            </a:pPr>
            <a:r>
              <a:t>불량재발 Zero</a:t>
            </a:r>
          </a:p>
          <a:p>
            <a:pPr algn="ctr">
              <a:spcBef>
                <a:spcPts val="300"/>
              </a:spcBef>
              <a:defRPr sz="1100">
                <a:solidFill>
                  <a:srgbClr val="3498DB"/>
                </a:solidFill>
              </a:defRPr>
            </a:pPr>
            <a:r>
              <a:t>10% → 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4206240"/>
            <a:ext cx="18288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/>
            </a:pPr>
            <a:r>
              <a:t>📈</a:t>
            </a:r>
          </a:p>
          <a:p>
            <a:pPr algn="ctr">
              <a:spcBef>
                <a:spcPts val="500"/>
              </a:spcBef>
              <a:defRPr sz="1300" b="1">
                <a:solidFill>
                  <a:srgbClr val="192A56"/>
                </a:solidFill>
              </a:defRPr>
            </a:pPr>
            <a:r>
              <a:t>설비CAPA 증대</a:t>
            </a:r>
          </a:p>
          <a:p>
            <a:pPr algn="ctr">
              <a:spcBef>
                <a:spcPts val="300"/>
              </a:spcBef>
              <a:defRPr sz="1100">
                <a:solidFill>
                  <a:srgbClr val="3498DB"/>
                </a:solidFill>
              </a:defRPr>
            </a:pPr>
            <a:r>
              <a:t>15% 향상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206240"/>
            <a:ext cx="18288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/>
            </a:pPr>
            <a:r>
              <a:t>🔧</a:t>
            </a:r>
          </a:p>
          <a:p>
            <a:pPr algn="ctr">
              <a:spcBef>
                <a:spcPts val="500"/>
              </a:spcBef>
              <a:defRPr sz="1300" b="1">
                <a:solidFill>
                  <a:srgbClr val="192A56"/>
                </a:solidFill>
              </a:defRPr>
            </a:pPr>
            <a:r>
              <a:t>설비관리 혁신</a:t>
            </a:r>
          </a:p>
          <a:p>
            <a:pPr algn="ctr">
              <a:spcBef>
                <a:spcPts val="300"/>
              </a:spcBef>
              <a:defRPr sz="1100">
                <a:solidFill>
                  <a:srgbClr val="3498DB"/>
                </a:solidFill>
              </a:defRPr>
            </a:pPr>
            <a:r>
              <a:t>고장 50% 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5년 여정: 기반 구축에서 스마트 혁신으로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188720"/>
            <a:ext cx="548640" cy="548640"/>
          </a:xfrm>
          <a:prstGeom prst="ellipse">
            <a:avLst/>
          </a:prstGeom>
          <a:solidFill>
            <a:srgbClr val="7F8C8D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2021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05840" y="1737360"/>
            <a:ext cx="0" cy="365760"/>
          </a:xfrm>
          <a:prstGeom prst="line">
            <a:avLst/>
          </a:prstGeom>
          <a:ln w="25400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645920" y="1143000"/>
            <a:ext cx="70408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7F8C8D"/>
                </a:solidFill>
              </a:defRPr>
            </a:pPr>
            <a:r>
              <a:t>기반 구축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  핵심: 개선 134회  |  슬라이드: 39개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103120"/>
            <a:ext cx="548640" cy="548640"/>
          </a:xfrm>
          <a:prstGeom prst="ellipse">
            <a:avLst/>
          </a:prstGeom>
          <a:solidFill>
            <a:srgbClr val="3498D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2022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5840" y="2651760"/>
            <a:ext cx="0" cy="365760"/>
          </a:xfrm>
          <a:prstGeom prst="line">
            <a:avLst/>
          </a:prstGeom>
          <a:ln w="25400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645920" y="2057400"/>
            <a:ext cx="70408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t>체계화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  핵심: MES 시작  |  슬라이드: 33개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17520"/>
            <a:ext cx="548640" cy="548640"/>
          </a:xfrm>
          <a:prstGeom prst="ellipse">
            <a:avLst/>
          </a:prstGeom>
          <a:solidFill>
            <a:srgbClr val="2ECC71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2023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5840" y="3566160"/>
            <a:ext cx="0" cy="365760"/>
          </a:xfrm>
          <a:prstGeom prst="line">
            <a:avLst/>
          </a:prstGeom>
          <a:ln w="25400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645920" y="2971800"/>
            <a:ext cx="70408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효율화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  핵심: KPI 51%↓  |  슬라이드: 34개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31920"/>
            <a:ext cx="548640" cy="548640"/>
          </a:xfrm>
          <a:prstGeom prst="ellipse">
            <a:avLst/>
          </a:prstGeom>
          <a:solidFill>
            <a:srgbClr val="E67E2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2024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5840" y="4480559"/>
            <a:ext cx="0" cy="365761"/>
          </a:xfrm>
          <a:prstGeom prst="line">
            <a:avLst/>
          </a:prstGeom>
          <a:ln w="25400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645920" y="3886200"/>
            <a:ext cx="70408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대확장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  핵심: 슬라이드 138%↑  |  슬라이드: 81개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846320"/>
            <a:ext cx="548640" cy="548640"/>
          </a:xfrm>
          <a:prstGeom prst="ellipse">
            <a:avLst/>
          </a:prstGeom>
          <a:solidFill>
            <a:srgbClr val="9B59B6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4800600"/>
            <a:ext cx="70408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9B59B6"/>
                </a:solidFill>
              </a:defRPr>
            </a:pPr>
            <a:r>
              <a:t>실행 극대화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  핵심: 과제 56개  |  슬라이드: 84개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57200" y="5760720"/>
            <a:ext cx="1828800" cy="45720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5669280"/>
            <a:ext cx="6126480" cy="640080"/>
          </a:xfrm>
          <a:prstGeom prst="roundRect">
            <a:avLst/>
          </a:prstGeom>
          <a:solidFill>
            <a:srgbClr val="FFFAE6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4AF37"/>
                </a:solidFill>
              </a:defRPr>
            </a:pPr>
            <a:r>
              <a:t>🎯 스마트 제조 혁신 완성: AI/IoT 기반 실시간 대응 체계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2026 전략: 4대 핵심 과제</a:t>
            </a:r>
          </a:p>
        </p:txBody>
      </p:sp>
      <p:sp>
        <p:nvSpPr>
          <p:cNvPr id="3" name="Oval 2"/>
          <p:cNvSpPr/>
          <p:nvPr/>
        </p:nvSpPr>
        <p:spPr>
          <a:xfrm>
            <a:off x="3474720" y="2286000"/>
            <a:ext cx="2194560" cy="2194560"/>
          </a:xfrm>
          <a:prstGeom prst="ellipse">
            <a:avLst/>
          </a:prstGeom>
          <a:solidFill>
            <a:srgbClr val="D4AF37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스마트</a:t>
            </a:r>
          </a:p>
          <a:p>
            <a:r>
              <a:t>제조혁신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371600"/>
            <a:ext cx="2103120" cy="137160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⏱️</a:t>
            </a:r>
          </a:p>
          <a:p>
            <a:pPr algn="ctr">
              <a:spcBef>
                <a:spcPts val="500"/>
              </a:spcBef>
              <a:defRPr sz="1600" b="1">
                <a:solidFill>
                  <a:srgbClr val="FFFFFF"/>
                </a:solidFill>
              </a:defRPr>
            </a:pPr>
            <a:r>
              <a:t>순간유실</a:t>
            </a:r>
            <a:br/>
            <a:r>
              <a:t>Zero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5% → 2%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5347894" y="2057400"/>
            <a:ext cx="2287346" cy="2101774"/>
          </a:xfrm>
          <a:prstGeom prst="line">
            <a:avLst/>
          </a:prstGeom>
          <a:ln w="381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371600"/>
            <a:ext cx="2103120" cy="137160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🎯</a:t>
            </a:r>
          </a:p>
          <a:p>
            <a:pPr algn="ctr">
              <a:spcBef>
                <a:spcPts val="500"/>
              </a:spcBef>
              <a:defRPr sz="1600" b="1">
                <a:solidFill>
                  <a:srgbClr val="FFFFFF"/>
                </a:solidFill>
              </a:defRPr>
            </a:pPr>
            <a:r>
              <a:t>불량재발</a:t>
            </a:r>
            <a:br/>
            <a:r>
              <a:t>Zero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10% → 5%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1508760" y="2057400"/>
            <a:ext cx="2287345" cy="2101774"/>
          </a:xfrm>
          <a:prstGeom prst="line">
            <a:avLst/>
          </a:prstGeom>
          <a:ln w="381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4754880"/>
            <a:ext cx="2103120" cy="137160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📈</a:t>
            </a:r>
          </a:p>
          <a:p>
            <a:pPr algn="ctr">
              <a:spcBef>
                <a:spcPts val="500"/>
              </a:spcBef>
              <a:defRPr sz="1600" b="1">
                <a:solidFill>
                  <a:srgbClr val="FFFFFF"/>
                </a:solidFill>
              </a:defRPr>
            </a:pPr>
            <a:r>
              <a:t>설비CAPA</a:t>
            </a:r>
            <a:br/>
            <a:r>
              <a:t>증대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15% ↑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508760" y="2607385"/>
            <a:ext cx="2287345" cy="2833295"/>
          </a:xfrm>
          <a:prstGeom prst="line">
            <a:avLst/>
          </a:prstGeom>
          <a:ln w="381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83680" y="4754880"/>
            <a:ext cx="2103120" cy="1371600"/>
          </a:xfrm>
          <a:prstGeom prst="roundRect">
            <a:avLst/>
          </a:prstGeom>
          <a:solidFill>
            <a:srgbClr val="9B59B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🔧</a:t>
            </a:r>
          </a:p>
          <a:p>
            <a:pPr algn="ctr">
              <a:spcBef>
                <a:spcPts val="500"/>
              </a:spcBef>
              <a:defRPr sz="1600" b="1">
                <a:solidFill>
                  <a:srgbClr val="FFFFFF"/>
                </a:solidFill>
              </a:defRPr>
            </a:pPr>
            <a:r>
              <a:t>설비관리</a:t>
            </a:r>
            <a:br/>
            <a:r>
              <a:t>혁신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고장 50% ↓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47894" y="2607385"/>
            <a:ext cx="2287346" cy="2833295"/>
          </a:xfrm>
          <a:prstGeom prst="line">
            <a:avLst/>
          </a:prstGeom>
          <a:ln w="38100">
            <a:solidFill>
              <a:srgbClr val="9B5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98DB"/>
                </a:solidFill>
              </a:defRPr>
            </a:pPr>
            <a:r>
              <a:t>전략 1: 순간유실 Zero 프로젝트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22860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498DB"/>
                </a:solidFill>
              </a:defRPr>
            </a:pPr>
            <a:r>
              <a:t>📊 목표 및 과거 대비</a:t>
            </a:r>
          </a:p>
          <a:p>
            <a:pPr>
              <a:spcBef>
                <a:spcPts val="800"/>
              </a:spcBef>
              <a:defRPr sz="1300">
                <a:solidFill>
                  <a:srgbClr val="192A56"/>
                </a:solidFill>
              </a:defRPr>
            </a:pPr>
            <a:r>
              <a:t>현재 유실시간: 5%</a:t>
            </a:r>
          </a:p>
          <a:p>
            <a:pPr>
              <a:spcBef>
                <a:spcPts val="800"/>
              </a:spcBef>
              <a:defRPr sz="1300">
                <a:solidFill>
                  <a:srgbClr val="192A56"/>
                </a:solidFill>
              </a:defRPr>
            </a:pPr>
            <a:r>
              <a:t>2026 목표: 2% (60% 감소)</a:t>
            </a:r>
          </a:p>
          <a:p>
            <a:pPr>
              <a:spcBef>
                <a:spcPts val="800"/>
              </a:spcBef>
              <a:defRPr sz="1300">
                <a:solidFill>
                  <a:srgbClr val="192A56"/>
                </a:solidFill>
              </a:defRPr>
            </a:pPr>
            <a:r>
              <a:t>과거 5년: 월 단위 분석</a:t>
            </a:r>
          </a:p>
          <a:p>
            <a:pPr>
              <a:spcBef>
                <a:spcPts val="800"/>
              </a:spcBef>
              <a:defRPr sz="1300">
                <a:solidFill>
                  <a:srgbClr val="192A56"/>
                </a:solidFill>
              </a:defRPr>
            </a:pPr>
            <a:r>
              <a:t>2026 혁신: 실시간 (초 단위)</a:t>
            </a:r>
          </a:p>
          <a:p>
            <a:pPr>
              <a:spcBef>
                <a:spcPts val="800"/>
              </a:spcBef>
              <a:defRPr sz="1300">
                <a:solidFill>
                  <a:srgbClr val="192A56"/>
                </a:solidFill>
              </a:defRPr>
            </a:pPr>
            <a:r>
              <a:t>대응 속도: 1000배 향상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192A56"/>
                </a:solidFill>
              </a:defRPr>
            </a:pPr>
            <a:r>
              <a:t>• 실시간 모니터링 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463040"/>
            <a:ext cx="3200400" cy="27432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0" y="1463040"/>
            <a:ext cx="1440180" cy="2743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417319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3498DB"/>
                </a:solidFill>
              </a:defRPr>
            </a:pPr>
            <a:r>
              <a:t>45%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920240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192A56"/>
                </a:solidFill>
              </a:defRPr>
            </a:pPr>
            <a:r>
              <a:t>• AI 순간정지 자동 감지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286000"/>
            <a:ext cx="3200400" cy="27432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54880" y="2286000"/>
            <a:ext cx="1120139" cy="2743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240280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3498DB"/>
                </a:solidFill>
              </a:defRPr>
            </a:pPr>
            <a:r>
              <a:t>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743200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192A56"/>
                </a:solidFill>
              </a:defRPr>
            </a:pPr>
            <a:r>
              <a:t>• MES 연동 데이터 수집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108960"/>
            <a:ext cx="3200400" cy="27432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80" y="3108960"/>
            <a:ext cx="1760220" cy="2743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3063240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3498DB"/>
                </a:solidFill>
              </a:defRPr>
            </a:pPr>
            <a:r>
              <a:t>55%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566160"/>
            <a:ext cx="3931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192A56"/>
                </a:solidFill>
              </a:defRPr>
            </a:pPr>
            <a:r>
              <a:t>• 유실 원인 자동 분석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931920"/>
            <a:ext cx="3200400" cy="27432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54880" y="3931920"/>
            <a:ext cx="960120" cy="2743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3886200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 b="1">
                <a:solidFill>
                  <a:srgbClr val="3498DB"/>
                </a:solidFill>
              </a:defRPr>
            </a:pPr>
            <a:r>
              <a:t>30%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40480"/>
            <a:ext cx="8229600" cy="2286000"/>
          </a:xfrm>
          <a:prstGeom prst="roundRect">
            <a:avLst/>
          </a:prstGeom>
          <a:solidFill>
            <a:srgbClr val="F5FA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498DB"/>
                </a:solidFill>
              </a:defRPr>
            </a:pPr>
            <a:r>
              <a:t>🎯 기대효과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3840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98DB"/>
                </a:solidFill>
              </a:defRPr>
            </a:pPr>
            <a:r>
              <a:t>✓ 유실시간 60% 감소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   → 5% → 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389120"/>
            <a:ext cx="3840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CC71"/>
                </a:solidFill>
              </a:defRPr>
            </a:pPr>
            <a:r>
              <a:t>✓ 대응속도 1000배 향상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   → 월 단위 → 초 단위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3840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67E22"/>
                </a:solidFill>
              </a:defRPr>
            </a:pPr>
            <a:r>
              <a:t>✓ 생산성 5% 증가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   → CAPA 효율 극대화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212080"/>
            <a:ext cx="3840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9B59B6"/>
                </a:solidFill>
              </a:defRPr>
            </a:pPr>
            <a:r>
              <a:t>✓ 가공비 3% 절감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   → 연간 수억원 절감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CC71"/>
                </a:solidFill>
              </a:defRPr>
            </a:pPr>
            <a:r>
              <a:t>전략 2: 불량 재발 Zero 시스템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93192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🔍  단계 1: 즉시 감지</a:t>
            </a:r>
          </a:p>
          <a:p>
            <a:br/>
            <a:pPr>
              <a:defRPr sz="1300">
                <a:solidFill>
                  <a:srgbClr val="192A56"/>
                </a:solidFill>
              </a:defRPr>
            </a:pPr>
            <a:r>
              <a:t>비전검사 시스템</a:t>
            </a:r>
            <a:br/>
            <a:r>
              <a:t>실시간 불량 감지</a:t>
            </a:r>
          </a:p>
        </p:txBody>
      </p:sp>
      <p:sp>
        <p:nvSpPr>
          <p:cNvPr id="4" name="Down Arrow 3"/>
          <p:cNvSpPr/>
          <p:nvPr/>
        </p:nvSpPr>
        <p:spPr>
          <a:xfrm>
            <a:off x="2103120" y="2606040"/>
            <a:ext cx="457200" cy="182880"/>
          </a:xfrm>
          <a:prstGeom prst="down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834640"/>
            <a:ext cx="393192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🧠  단계 2: 원인 분석</a:t>
            </a:r>
          </a:p>
          <a:p>
            <a:br/>
            <a:pPr>
              <a:defRPr sz="1300">
                <a:solidFill>
                  <a:srgbClr val="192A56"/>
                </a:solidFill>
              </a:defRPr>
            </a:pPr>
            <a:r>
              <a:t>AI 패턴 분석</a:t>
            </a:r>
            <a:br/>
            <a:r>
              <a:t>불량 DB 활용</a:t>
            </a:r>
          </a:p>
        </p:txBody>
      </p:sp>
      <p:sp>
        <p:nvSpPr>
          <p:cNvPr id="6" name="Down Arrow 5"/>
          <p:cNvSpPr/>
          <p:nvPr/>
        </p:nvSpPr>
        <p:spPr>
          <a:xfrm>
            <a:off x="2103120" y="4251960"/>
            <a:ext cx="457200" cy="182880"/>
          </a:xfrm>
          <a:prstGeom prst="down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4480560"/>
            <a:ext cx="393192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🛡️  단계 3: 재발 방지</a:t>
            </a:r>
          </a:p>
          <a:p>
            <a:br/>
            <a:pPr>
              <a:defRPr sz="1300">
                <a:solidFill>
                  <a:srgbClr val="192A56"/>
                </a:solidFill>
              </a:defRPr>
            </a:pPr>
            <a:r>
              <a:t>SOP 자동 업데이트</a:t>
            </a:r>
            <a:br/>
            <a:r>
              <a:t>작업자 실시간 알림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931920" cy="210312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📈 과거 vs 2026</a:t>
            </a:r>
          </a:p>
          <a:p>
            <a:br/>
            <a:pPr>
              <a:defRPr sz="1300" b="1">
                <a:solidFill>
                  <a:srgbClr val="7F8C8D"/>
                </a:solidFill>
              </a:defRPr>
            </a:pPr>
            <a:r>
              <a:t>과거 5년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  → 사후 대응 중심</a:t>
            </a:r>
          </a:p>
          <a:p>
            <a:br/>
            <a:pPr>
              <a:defRPr sz="1300" b="1">
                <a:solidFill>
                  <a:srgbClr val="E67E22"/>
                </a:solidFill>
              </a:defRPr>
            </a:pPr>
            <a:r>
              <a:t>24년 전환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  → 품질 10배 증가</a:t>
            </a:r>
          </a:p>
          <a:p>
            <a:br/>
            <a:pPr>
              <a:defRPr sz="1300" b="1">
                <a:solidFill>
                  <a:srgbClr val="2ECC71"/>
                </a:solidFill>
              </a:defRPr>
            </a:pPr>
            <a:r>
              <a:t>2026 목표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  → 불량률 50% 감소</a:t>
            </a:r>
          </a:p>
          <a:p>
            <a:br/>
            <a:pPr>
              <a:defRPr sz="1300" b="1">
                <a:solidFill>
                  <a:srgbClr val="9B59B6"/>
                </a:solidFill>
              </a:defRPr>
            </a:pPr>
            <a:r>
              <a:t>핵심 차별화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  → AI 패턴 학습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566160"/>
            <a:ext cx="3931920" cy="2560320"/>
          </a:xfrm>
          <a:prstGeom prst="roundRect">
            <a:avLst/>
          </a:prstGeom>
          <a:solidFill>
            <a:srgbClr val="F5FF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🎯 기대효과</a:t>
            </a:r>
          </a:p>
          <a:p>
            <a:pPr>
              <a:spcBef>
                <a:spcPts val="800"/>
              </a:spcBef>
              <a:defRPr sz="1400">
                <a:solidFill>
                  <a:srgbClr val="192A56"/>
                </a:solidFill>
              </a:defRPr>
            </a:pPr>
            <a:r>
              <a:t>✓ 불량률 50% 감소 (10% → 5%)</a:t>
            </a:r>
          </a:p>
          <a:p>
            <a:pPr>
              <a:spcBef>
                <a:spcPts val="800"/>
              </a:spcBef>
              <a:defRPr sz="1400">
                <a:solidFill>
                  <a:srgbClr val="192A56"/>
                </a:solidFill>
              </a:defRPr>
            </a:pPr>
            <a:r>
              <a:t>✓ 불량 비용 40% 절감</a:t>
            </a:r>
          </a:p>
          <a:p>
            <a:pPr>
              <a:spcBef>
                <a:spcPts val="800"/>
              </a:spcBef>
              <a:defRPr sz="1400">
                <a:solidFill>
                  <a:srgbClr val="192A56"/>
                </a:solidFill>
              </a:defRPr>
            </a:pPr>
            <a:r>
              <a:t>✓ 고객 클레임 70% 감소</a:t>
            </a:r>
          </a:p>
          <a:p>
            <a:pPr>
              <a:spcBef>
                <a:spcPts val="800"/>
              </a:spcBef>
              <a:defRPr sz="1400">
                <a:solidFill>
                  <a:srgbClr val="192A56"/>
                </a:solidFill>
              </a:defRPr>
            </a:pPr>
            <a:r>
              <a:t>✓ 재작업 시간 60% 단축</a:t>
            </a:r>
          </a:p>
          <a:p>
            <a:pPr>
              <a:spcBef>
                <a:spcPts val="800"/>
              </a:spcBef>
              <a:defRPr sz="1400">
                <a:solidFill>
                  <a:srgbClr val="192A56"/>
                </a:solidFill>
              </a:defRPr>
            </a:pPr>
            <a:r>
              <a:t>✓ 품질 경쟁력 대폭 향상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67E22"/>
                </a:solidFill>
              </a:defRPr>
            </a:pPr>
            <a:r>
              <a:t>전략 3: 설비 CAPA 15% 증대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Tact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371600"/>
            <a:ext cx="256032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F8C8D"/>
                </a:solidFill>
              </a:defRPr>
            </a:pPr>
            <a:r>
              <a:t>현재: 12초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920240"/>
            <a:ext cx="2133599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목표: 10초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</a:defRPr>
            </a:pPr>
            <a:r>
              <a:t>↑ 16.7%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설비 가동률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926080"/>
            <a:ext cx="24003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F8C8D"/>
                </a:solidFill>
              </a:defRPr>
            </a:pPr>
            <a:r>
              <a:t>현재: 75%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3474720"/>
            <a:ext cx="288036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목표: 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20040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</a:defRPr>
            </a:pPr>
            <a:r>
              <a:t>↑ 20.0%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056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일일 생산량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4480560"/>
            <a:ext cx="2667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F8C8D"/>
                </a:solidFill>
              </a:defRPr>
            </a:pPr>
            <a:r>
              <a:t>현재: 5000개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5029200"/>
            <a:ext cx="306705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목표: 5750개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75488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</a:defRPr>
            </a:pPr>
            <a:r>
              <a:t>↑ 15.0%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8229600" cy="731520"/>
          </a:xfrm>
          <a:prstGeom prst="roundRect">
            <a:avLst/>
          </a:prstGeom>
          <a:solidFill>
            <a:srgbClr val="FFF5E6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67E22"/>
                </a:solidFill>
              </a:defRPr>
            </a:pPr>
            <a:r>
              <a:t>📋 실행 계획: ① 병목공정 개선  ② 고속화 설비 개조  ③ 자동화 라인 증설  ④ 작업 동선 최적화  ⑤ 다기능 인력 양성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9B59B6"/>
                </a:solidFill>
              </a:defRPr>
            </a:pPr>
            <a:r>
              <a:t>전략 4: 설비관리 혁신 (신규)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8229600" cy="548640"/>
          </a:xfrm>
          <a:prstGeom prst="roundRect">
            <a:avLst/>
          </a:prstGeom>
          <a:solidFill>
            <a:srgbClr val="F5EB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🎯 목표: 예방보전 체계 고도화로 설비 고장 50% 감소 및 설비 수명 20% 연장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39319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🔧 예방보전 고도화</a:t>
            </a:r>
          </a:p>
          <a:p>
            <a:pPr>
              <a:spcBef>
                <a:spcPts val="1000"/>
              </a:spcBef>
              <a:defRPr sz="1300">
                <a:solidFill>
                  <a:srgbClr val="192A56"/>
                </a:solidFill>
              </a:defRPr>
            </a:pPr>
            <a:r>
              <a:t>• 주기 → 상태 기반</a:t>
            </a:r>
          </a:p>
          <a:p>
            <a:pPr>
              <a:spcBef>
                <a:spcPts val="1000"/>
              </a:spcBef>
              <a:defRPr sz="1300">
                <a:solidFill>
                  <a:srgbClr val="192A56"/>
                </a:solidFill>
              </a:defRPr>
            </a:pPr>
            <a:r>
              <a:t>• IoT 센서 모니터링</a:t>
            </a:r>
          </a:p>
          <a:p>
            <a:pPr>
              <a:spcBef>
                <a:spcPts val="1000"/>
              </a:spcBef>
              <a:defRPr sz="1300">
                <a:solidFill>
                  <a:srgbClr val="192A56"/>
                </a:solidFill>
              </a:defRPr>
            </a:pPr>
            <a:r>
              <a:t>• 이상징후 조기 감지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920240"/>
            <a:ext cx="39319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📋 설비 이력 관리</a:t>
            </a:r>
          </a:p>
          <a:p>
            <a:pPr>
              <a:spcBef>
                <a:spcPts val="1000"/>
              </a:spcBef>
              <a:defRPr sz="1300">
                <a:solidFill>
                  <a:srgbClr val="192A56"/>
                </a:solidFill>
              </a:defRPr>
            </a:pPr>
            <a:r>
              <a:t>• 설비별 정비 DB화</a:t>
            </a:r>
          </a:p>
          <a:p>
            <a:pPr>
              <a:spcBef>
                <a:spcPts val="1000"/>
              </a:spcBef>
              <a:defRPr sz="1300">
                <a:solidFill>
                  <a:srgbClr val="192A56"/>
                </a:solidFill>
              </a:defRPr>
            </a:pPr>
            <a:r>
              <a:t>• 고장 패턴 분석</a:t>
            </a:r>
          </a:p>
          <a:p>
            <a:pPr>
              <a:spcBef>
                <a:spcPts val="1000"/>
              </a:spcBef>
              <a:defRPr sz="1300">
                <a:solidFill>
                  <a:srgbClr val="192A56"/>
                </a:solidFill>
              </a:defRPr>
            </a:pPr>
            <a:r>
              <a:t>• 부품 교체 최적화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39319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🎯 부품 수명 예측</a:t>
            </a:r>
          </a:p>
          <a:p>
            <a:pPr>
              <a:spcBef>
                <a:spcPts val="1000"/>
              </a:spcBef>
              <a:defRPr sz="1300">
                <a:solidFill>
                  <a:srgbClr val="192A56"/>
                </a:solidFill>
              </a:defRPr>
            </a:pPr>
            <a:r>
              <a:t>• AI 기반 수명 예측</a:t>
            </a:r>
          </a:p>
          <a:p>
            <a:pPr>
              <a:spcBef>
                <a:spcPts val="1000"/>
              </a:spcBef>
              <a:defRPr sz="1300">
                <a:solidFill>
                  <a:srgbClr val="192A56"/>
                </a:solidFill>
              </a:defRPr>
            </a:pPr>
            <a:r>
              <a:t>• 적기 부품 교체</a:t>
            </a:r>
          </a:p>
          <a:p>
            <a:pPr>
              <a:spcBef>
                <a:spcPts val="1000"/>
              </a:spcBef>
              <a:defRPr sz="1300">
                <a:solidFill>
                  <a:srgbClr val="192A56"/>
                </a:solidFill>
              </a:defRPr>
            </a:pPr>
            <a:r>
              <a:t>• 재고 최적화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4206240"/>
            <a:ext cx="39319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⚡ 긴급 정비 체계</a:t>
            </a:r>
          </a:p>
          <a:p>
            <a:pPr>
              <a:spcBef>
                <a:spcPts val="1000"/>
              </a:spcBef>
              <a:defRPr sz="1300">
                <a:solidFill>
                  <a:srgbClr val="192A56"/>
                </a:solidFill>
              </a:defRPr>
            </a:pPr>
            <a:r>
              <a:t>• 24시간 대응</a:t>
            </a:r>
          </a:p>
          <a:p>
            <a:pPr>
              <a:spcBef>
                <a:spcPts val="1000"/>
              </a:spcBef>
              <a:defRPr sz="1300">
                <a:solidFill>
                  <a:srgbClr val="192A56"/>
                </a:solidFill>
              </a:defRPr>
            </a:pPr>
            <a:r>
              <a:t>• 비상부품 확보</a:t>
            </a:r>
          </a:p>
          <a:p>
            <a:pPr>
              <a:spcBef>
                <a:spcPts val="1000"/>
              </a:spcBef>
              <a:defRPr sz="1300">
                <a:solidFill>
                  <a:srgbClr val="192A56"/>
                </a:solidFill>
              </a:defRPr>
            </a:pPr>
            <a:r>
              <a:t>• 협력업체 네트워크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2026 평가가동 효율 목표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371600"/>
            <a:ext cx="2103120" cy="3474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498DB"/>
                </a:solidFill>
              </a:defRPr>
            </a:pPr>
            <a:r>
              <a:t>SMD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173736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5200" b="1">
                <a:solidFill>
                  <a:srgbClr val="3498DB"/>
                </a:solidFill>
              </a:defRPr>
            </a:pPr>
            <a:r>
              <a:t>91%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2918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7F8C8D"/>
                </a:solidFill>
              </a:defRPr>
            </a:pPr>
            <a:r>
              <a:t>2026 목표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749039"/>
            <a:ext cx="1554480" cy="457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7F8C8D"/>
                </a:solidFill>
              </a:defRPr>
            </a:pPr>
            <a:r>
              <a:t>현재: 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976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</a:defRPr>
            </a:pPr>
            <a:r>
              <a:t>↑ 6%p 향상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371600"/>
            <a:ext cx="2103120" cy="3474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155448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ECC71"/>
                </a:solidFill>
              </a:defRPr>
            </a:pPr>
            <a:r>
              <a:t>RADIAL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194560"/>
            <a:ext cx="173736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5200" b="1">
                <a:solidFill>
                  <a:srgbClr val="2ECC71"/>
                </a:solidFill>
              </a:defRPr>
            </a:pPr>
            <a:r>
              <a:t>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2918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7F8C8D"/>
                </a:solidFill>
              </a:defRPr>
            </a:pPr>
            <a:r>
              <a:t>2026 목표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3749039"/>
            <a:ext cx="1554480" cy="457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7F8C8D"/>
                </a:solidFill>
              </a:defRPr>
            </a:pPr>
            <a:r>
              <a:t>현재: 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2976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</a:defRPr>
            </a:pPr>
            <a:r>
              <a:t>↑ 7%p 향상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371600"/>
            <a:ext cx="2103120" cy="3474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55448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67E22"/>
                </a:solidFill>
              </a:defRPr>
            </a:pPr>
            <a:r>
              <a:t>AXIAL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94560"/>
            <a:ext cx="173736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5200" b="1">
                <a:solidFill>
                  <a:srgbClr val="E67E22"/>
                </a:solidFill>
              </a:defRPr>
            </a:pPr>
            <a:r>
              <a:t>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2918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7F8C8D"/>
                </a:solidFill>
              </a:defRPr>
            </a:pPr>
            <a:r>
              <a:t>2026 목표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3749039"/>
            <a:ext cx="1554480" cy="457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7F8C8D"/>
                </a:solidFill>
              </a:defRPr>
            </a:pPr>
            <a:r>
              <a:t>현재: 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2976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</a:defRPr>
            </a:pPr>
            <a:r>
              <a:t>↑ 5%p 향상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212080"/>
            <a:ext cx="8229600" cy="100584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92A56"/>
                </a:solidFill>
              </a:defRPr>
            </a:pPr>
            <a:r>
              <a:t>💡 핵심 전략</a:t>
            </a:r>
          </a:p>
          <a:p>
            <a:br/>
            <a:pPr algn="ctr">
              <a:defRPr sz="1600" b="1">
                <a:solidFill>
                  <a:srgbClr val="192A56"/>
                </a:solidFill>
              </a:defRPr>
            </a:pPr>
            <a:r>
              <a:t>순간유실 Zero + 불량재발 Zero + 설비CAPA 증대 + 설비관리 혁신</a:t>
            </a:r>
          </a:p>
          <a:p>
            <a:pPr algn="ctr">
              <a:spcBef>
                <a:spcPts val="500"/>
              </a:spcBef>
              <a:defRPr sz="1600" b="1">
                <a:solidFill>
                  <a:srgbClr val="D4AF37"/>
                </a:solidFill>
              </a:defRPr>
            </a:pPr>
            <a:r>
              <a:t>= 평가가동 효율 극대화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2026 실행 로드맵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0" y="1097280"/>
            <a:ext cx="1417319" cy="457200"/>
          </a:xfrm>
          <a:prstGeom prst="round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69079" y="1097280"/>
            <a:ext cx="1417319" cy="457200"/>
          </a:xfrm>
          <a:prstGeom prst="round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097280"/>
            <a:ext cx="1417319" cy="457200"/>
          </a:xfrm>
          <a:prstGeom prst="round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599" y="1097280"/>
            <a:ext cx="1417319" cy="457200"/>
          </a:xfrm>
          <a:prstGeom prst="round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t>순간유실 Zero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965960"/>
            <a:ext cx="1417319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69079" y="1965960"/>
            <a:ext cx="1417319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1965960"/>
            <a:ext cx="1417319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86599" y="1965960"/>
            <a:ext cx="1417319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t>불량 재발 Zero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880360"/>
            <a:ext cx="1417319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69079" y="2880360"/>
            <a:ext cx="1417319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77840" y="2880360"/>
            <a:ext cx="1417319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86599" y="2880360"/>
            <a:ext cx="1417319" cy="457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49039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E67E22"/>
                </a:solidFill>
              </a:defRPr>
            </a:pPr>
            <a:r>
              <a:t>설비 CAPA 증대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3794760"/>
            <a:ext cx="1417319" cy="457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069079" y="3794760"/>
            <a:ext cx="1417319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77840" y="3794760"/>
            <a:ext cx="1417319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86599" y="3794760"/>
            <a:ext cx="1417319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6344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9B59B6"/>
                </a:solidFill>
              </a:defRPr>
            </a:pPr>
            <a:r>
              <a:t>설비관리 혁신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4709160"/>
            <a:ext cx="1417319" cy="4572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69079" y="4709160"/>
            <a:ext cx="1417319" cy="4572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577840" y="4709160"/>
            <a:ext cx="1417319" cy="457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86599" y="4709160"/>
            <a:ext cx="1417319" cy="457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4617719" y="5669280"/>
            <a:ext cx="411480" cy="411480"/>
          </a:xfrm>
          <a:prstGeom prst="diamond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59" y="61264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</a:defRPr>
            </a:pPr>
            <a:r>
              <a:t>중간 점검</a:t>
            </a:r>
          </a:p>
        </p:txBody>
      </p:sp>
      <p:sp>
        <p:nvSpPr>
          <p:cNvPr id="29" name="Diamond 28"/>
          <p:cNvSpPr/>
          <p:nvPr/>
        </p:nvSpPr>
        <p:spPr>
          <a:xfrm>
            <a:off x="7635240" y="5669280"/>
            <a:ext cx="411480" cy="411480"/>
          </a:xfrm>
          <a:prstGeom prst="diamond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79" y="61264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</a:defRPr>
            </a:pPr>
            <a:r>
              <a:t>성과 평가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2026 기대 효과</a:t>
            </a:r>
          </a:p>
        </p:txBody>
      </p:sp>
      <p:sp>
        <p:nvSpPr>
          <p:cNvPr id="3" name="Oval 2"/>
          <p:cNvSpPr/>
          <p:nvPr/>
        </p:nvSpPr>
        <p:spPr>
          <a:xfrm>
            <a:off x="1097280" y="1188720"/>
            <a:ext cx="1645920" cy="1645920"/>
          </a:xfrm>
          <a:prstGeom prst="ellipse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34439" y="1325880"/>
            <a:ext cx="1371600" cy="13716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08760" y="160020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783080"/>
            <a:ext cx="822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10%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A56"/>
                </a:solidFill>
              </a:defRPr>
            </a:pPr>
            <a:r>
              <a:t>가공비 절감</a:t>
            </a:r>
          </a:p>
        </p:txBody>
      </p:sp>
      <p:sp>
        <p:nvSpPr>
          <p:cNvPr id="8" name="Oval 7"/>
          <p:cNvSpPr/>
          <p:nvPr/>
        </p:nvSpPr>
        <p:spPr>
          <a:xfrm>
            <a:off x="3840480" y="1188720"/>
            <a:ext cx="1645920" cy="1645920"/>
          </a:xfrm>
          <a:prstGeom prst="ellipse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977640" y="1325880"/>
            <a:ext cx="1371600" cy="13716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51960" y="160020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783080"/>
            <a:ext cx="822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</a:defRPr>
            </a:pPr>
            <a:r>
              <a:t>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0175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A56"/>
                </a:solidFill>
              </a:defRPr>
            </a:pPr>
            <a:r>
              <a:t>품질 개선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0" y="1188720"/>
            <a:ext cx="1645920" cy="1645920"/>
          </a:xfrm>
          <a:prstGeom prst="ellipse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20840" y="1325880"/>
            <a:ext cx="1371600" cy="13716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95160" y="160020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1783080"/>
            <a:ext cx="822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E67E22"/>
                </a:solidFill>
              </a:defRPr>
            </a:pPr>
            <a:r>
              <a:t>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175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A56"/>
                </a:solidFill>
              </a:defRPr>
            </a:pPr>
            <a:r>
              <a:t>유실시간 감소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0480"/>
            <a:ext cx="8229600" cy="2377440"/>
          </a:xfrm>
          <a:prstGeom prst="roundRect">
            <a:avLst/>
          </a:prstGeom>
          <a:solidFill>
            <a:srgbClr val="F5F8FA"/>
          </a:solidFill>
          <a:ln w="25400"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92A56"/>
                </a:solidFill>
              </a:defRPr>
            </a:pPr>
            <a:r>
              <a:t>📊 세부 성과 지표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t>• 순간유실시간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→ 5% → 2% (60% 감소)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48056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t>• 불량률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→ 10% → 5% (50% 개선)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7E22"/>
                </a:solidFill>
              </a:defRPr>
            </a:pPr>
            <a:r>
              <a:t>• 설비 가동률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→ 75% → 90% (15%p 향상)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12064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B59B6"/>
                </a:solidFill>
              </a:defRPr>
            </a:pPr>
            <a:r>
              <a:t>• 평가가동 효율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→ SMD 91%, RADIAL 85%, AXIAL 85%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6072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t>• 설비 고장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→ 50% 감소, 수명 20% 연장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76072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• 경제적 효과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→ 연간 수억원 비용 절감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92A56"/>
                </a:solidFill>
              </a:defRPr>
            </a:pPr>
            <a:r>
              <a:t>2026, 스마트 제조 혁신의 완성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400800" cy="182880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과거 5년의 경험과 노하우</a:t>
            </a:r>
          </a:p>
          <a:p>
            <a:pPr algn="ctr">
              <a:spcBef>
                <a:spcPts val="1000"/>
              </a:spcBef>
              <a:defRPr sz="3600">
                <a:solidFill>
                  <a:srgbClr val="FFFFFF"/>
                </a:solidFill>
              </a:defRPr>
            </a:pPr>
            <a:r>
              <a:t>+</a:t>
            </a:r>
          </a:p>
          <a:p>
            <a:pPr algn="ctr">
              <a:spcBef>
                <a:spcPts val="1000"/>
              </a:spcBef>
              <a:defRPr sz="2800" b="1">
                <a:solidFill>
                  <a:srgbClr val="FFFFFF"/>
                </a:solidFill>
              </a:defRPr>
            </a:pPr>
            <a:r>
              <a:t>AI/IoT 최신 기술</a:t>
            </a:r>
          </a:p>
          <a:p>
            <a:pPr algn="ctr">
              <a:spcBef>
                <a:spcPts val="1000"/>
              </a:spcBef>
              <a:defRPr sz="3600">
                <a:solidFill>
                  <a:srgbClr val="FFFFFF"/>
                </a:solidFill>
              </a:defRPr>
            </a:pPr>
            <a:r>
              <a:t>=</a:t>
            </a:r>
          </a:p>
          <a:p>
            <a:pPr algn="ctr">
              <a:spcBef>
                <a:spcPts val="1000"/>
              </a:spcBef>
              <a:defRPr sz="3200" b="1">
                <a:solidFill>
                  <a:srgbClr val="FFFFFF"/>
                </a:solidFill>
              </a:defRPr>
            </a:pPr>
            <a:r>
              <a:t>제조 경쟁력 혁신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/>
            </a:pPr>
            <a:r>
              <a:t>🎯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192A56"/>
                </a:solidFill>
              </a:defRPr>
            </a:pPr>
            <a:r>
              <a:t>명확한 목표</a:t>
            </a:r>
          </a:p>
          <a:p>
            <a:pPr algn="ctr">
              <a:spcBef>
                <a:spcPts val="500"/>
              </a:spcBef>
              <a:defRPr sz="1100">
                <a:solidFill>
                  <a:srgbClr val="34495E"/>
                </a:solidFill>
              </a:defRPr>
            </a:pPr>
            <a:r>
              <a:t>SMD 91%, RADIAL 85%, AXIAL 85%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438912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/>
            </a:pPr>
            <a:r>
              <a:t>💪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192A56"/>
                </a:solidFill>
              </a:defRPr>
            </a:pPr>
            <a:r>
              <a:t>검증된 역량</a:t>
            </a:r>
          </a:p>
          <a:p>
            <a:pPr algn="ctr">
              <a:spcBef>
                <a:spcPts val="500"/>
              </a:spcBef>
              <a:defRPr sz="1100">
                <a:solidFill>
                  <a:srgbClr val="34495E"/>
                </a:solidFill>
              </a:defRPr>
            </a:pPr>
            <a:r>
              <a:t>169개 과제 경험, 개선 문화 정착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38912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/>
            </a:pPr>
            <a:r>
              <a:t>🚀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192A56"/>
                </a:solidFill>
              </a:defRPr>
            </a:pPr>
            <a:r>
              <a:t>혁신 기술</a:t>
            </a:r>
          </a:p>
          <a:p>
            <a:pPr algn="ctr">
              <a:spcBef>
                <a:spcPts val="500"/>
              </a:spcBef>
              <a:defRPr sz="1100">
                <a:solidFill>
                  <a:srgbClr val="34495E"/>
                </a:solidFill>
              </a:defRPr>
            </a:pPr>
            <a:r>
              <a:t>AI/IoT 실시간 대응 체계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