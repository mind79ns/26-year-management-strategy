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D4AF37"/>
                </a:solidFill>
              </a:defRPr>
            </a:pPr>
            <a:r>
              <a:t>2026년 경영전략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자동화 제조라인 스마트화를 통한 가공비 절감 및 품질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제조1팀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전략 연속성: 과거 성과 기반 2026 방향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777240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7F8C8D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59" y="19202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F8C8D"/>
                </a:solidFill>
              </a:defRPr>
            </a:pPr>
            <a:r>
              <a:t>2021-2022</a:t>
            </a:r>
          </a:p>
        </p:txBody>
      </p:sp>
      <p:sp>
        <p:nvSpPr>
          <p:cNvPr id="6" name="Oval 5"/>
          <p:cNvSpPr/>
          <p:nvPr/>
        </p:nvSpPr>
        <p:spPr>
          <a:xfrm>
            <a:off x="2926080" y="1234440"/>
            <a:ext cx="548640" cy="548640"/>
          </a:xfrm>
          <a:prstGeom prst="ellipse">
            <a:avLst/>
          </a:prstGeom>
          <a:solidFill>
            <a:srgbClr val="3498D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9202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2023-2024</a:t>
            </a:r>
          </a:p>
        </p:txBody>
      </p:sp>
      <p:sp>
        <p:nvSpPr>
          <p:cNvPr id="8" name="Oval 7"/>
          <p:cNvSpPr/>
          <p:nvPr/>
        </p:nvSpPr>
        <p:spPr>
          <a:xfrm>
            <a:off x="5212080" y="1234440"/>
            <a:ext cx="548640" cy="548640"/>
          </a:xfrm>
          <a:prstGeom prst="ellipse">
            <a:avLst/>
          </a:prstGeom>
          <a:solidFill>
            <a:srgbClr val="2ECC71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9202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2025</a:t>
            </a:r>
          </a:p>
        </p:txBody>
      </p:sp>
      <p:sp>
        <p:nvSpPr>
          <p:cNvPr id="10" name="Oval 9"/>
          <p:cNvSpPr/>
          <p:nvPr/>
        </p:nvSpPr>
        <p:spPr>
          <a:xfrm>
            <a:off x="7498079" y="1234440"/>
            <a:ext cx="548640" cy="548640"/>
          </a:xfrm>
          <a:prstGeom prst="ellipse">
            <a:avLst/>
          </a:prstGeom>
          <a:solidFill>
            <a:srgbClr val="D4AF3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59" y="19202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3657600" cy="2286000"/>
          </a:xfrm>
          <a:prstGeom prst="roundRect">
            <a:avLst/>
          </a:prstGeom>
          <a:solidFill>
            <a:srgbClr val="ECF0F1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2A56"/>
                </a:solidFill>
              </a:defRPr>
            </a:pPr>
            <a:r>
              <a:t>과거 핵심 과제 (유지·강화)</a:t>
            </a:r>
          </a:p>
          <a:p>
            <a:pPr>
              <a:spcBef>
                <a:spcPts val="800"/>
              </a:spcBef>
              <a:defRPr sz="1400">
                <a:solidFill>
                  <a:srgbClr val="7F8C8D"/>
                </a:solidFill>
              </a:defRPr>
            </a:pPr>
            <a:r>
              <a:t>✓ 유실시간 개선 (연속 추진)</a:t>
            </a:r>
          </a:p>
          <a:p>
            <a:pPr>
              <a:spcBef>
                <a:spcPts val="800"/>
              </a:spcBef>
              <a:defRPr sz="1400">
                <a:solidFill>
                  <a:srgbClr val="7F8C8D"/>
                </a:solidFill>
              </a:defRPr>
            </a:pPr>
            <a:r>
              <a:t>✓ 설비 CAPA 관리 (강화)</a:t>
            </a:r>
          </a:p>
          <a:p>
            <a:pPr>
              <a:spcBef>
                <a:spcPts val="800"/>
              </a:spcBef>
              <a:defRPr sz="1400">
                <a:solidFill>
                  <a:srgbClr val="7F8C8D"/>
                </a:solidFill>
              </a:defRPr>
            </a:pPr>
            <a:r>
              <a:t>✓ 불량률 감소 활동</a:t>
            </a:r>
          </a:p>
          <a:p>
            <a:pPr>
              <a:spcBef>
                <a:spcPts val="800"/>
              </a:spcBef>
              <a:defRPr sz="1400">
                <a:solidFill>
                  <a:srgbClr val="7F8C8D"/>
                </a:solidFill>
              </a:defRPr>
            </a:pPr>
            <a:r>
              <a:t>✓ 공정 표준화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560320"/>
            <a:ext cx="3657600" cy="2286000"/>
          </a:xfrm>
          <a:prstGeom prst="roundRect">
            <a:avLst/>
          </a:prstGeom>
          <a:solidFill>
            <a:srgbClr val="FFFAE6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2A56"/>
                </a:solidFill>
              </a:defRPr>
            </a:pPr>
            <a:r>
              <a:t>2026 신규·고도화</a:t>
            </a:r>
          </a:p>
          <a:p>
            <a:pPr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★ 순간유실 실시간 가시화 (신규)</a:t>
            </a:r>
          </a:p>
          <a:p>
            <a:pPr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★ 불량 재발 Zero 시스템 (고도화)</a:t>
            </a:r>
          </a:p>
          <a:p>
            <a:pPr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★ 설비관리 혁신방안 (신규)</a:t>
            </a:r>
          </a:p>
          <a:p>
            <a:pPr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★ MES 연동 자동화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206240" y="3657600"/>
            <a:ext cx="731520" cy="36576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2026 전략 방향: 4대 핵심 과제</a:t>
            </a:r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1371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스마트 제조혁신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가공비 10% 절감</a:t>
            </a:r>
            <a:br/>
            <a:r>
              <a:t>품질 10% 개선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645920" cy="9144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순간유실</a:t>
            </a:r>
          </a:p>
          <a:p>
            <a:r>
              <a:t>Zero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737360" y="2286000"/>
            <a:ext cx="2834640" cy="118872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0" y="3474720"/>
            <a:ext cx="1645920" cy="9144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불량재발</a:t>
            </a:r>
          </a:p>
          <a:p>
            <a:r>
              <a:t>Zero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286000"/>
            <a:ext cx="3108960" cy="118872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14400" y="5303520"/>
            <a:ext cx="164592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설비CAPA</a:t>
            </a:r>
          </a:p>
          <a:p>
            <a:r>
              <a:t>증대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737360" y="2286000"/>
            <a:ext cx="2834640" cy="301752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0" y="5303520"/>
            <a:ext cx="164592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설비관리</a:t>
            </a:r>
          </a:p>
          <a:p>
            <a:r>
              <a:t>혁신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2286000"/>
            <a:ext cx="3108960" cy="301752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98DB"/>
                </a:solidFill>
              </a:defRPr>
            </a:pPr>
            <a:r>
              <a:t>전략 1: 순간유실 Zero 프로젝트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목표</a:t>
            </a:r>
          </a:p>
          <a:p>
            <a:pPr>
              <a:defRPr sz="1400">
                <a:solidFill>
                  <a:srgbClr val="192A56"/>
                </a:solidFill>
              </a:defRPr>
            </a:pPr>
            <a:r>
              <a:t>순간유실 5% → 2% 감소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2A56"/>
                </a:solidFill>
              </a:defRPr>
            </a:pPr>
            <a:r>
              <a:t>• 실시간 모니터링 시스템 구축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3657600" cy="2286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606040"/>
            <a:ext cx="1463040" cy="228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2514600"/>
            <a:ext cx="411480" cy="411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98DB"/>
                </a:solidFill>
              </a:defRPr>
            </a:pPr>
            <a: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2A56"/>
                </a:solidFill>
              </a:defRPr>
            </a:pPr>
            <a:r>
              <a:t>• 순간정지 알람 시스템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20440"/>
            <a:ext cx="3657600" cy="2286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520440"/>
            <a:ext cx="2194560" cy="228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68879" y="3429000"/>
            <a:ext cx="411480" cy="411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98DB"/>
                </a:solidFill>
              </a:defRPr>
            </a:pPr>
            <a: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2A56"/>
                </a:solidFill>
              </a:defRPr>
            </a:pPr>
            <a:r>
              <a:t>• 유실 원인 자동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34840"/>
            <a:ext cx="3657600" cy="2286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434840"/>
            <a:ext cx="1097280" cy="228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71600" y="4343400"/>
            <a:ext cx="411480" cy="411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98DB"/>
                </a:solidFill>
              </a:defRPr>
            </a:pPr>
            <a: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2A56"/>
                </a:solidFill>
              </a:defRPr>
            </a:pPr>
            <a:r>
              <a:t>• MES 연동 데이터 수집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49240"/>
            <a:ext cx="3657600" cy="2286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5349240"/>
            <a:ext cx="1828800" cy="228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03120" y="5257800"/>
            <a:ext cx="411480" cy="411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98DB"/>
                </a:solidFill>
              </a:defRPr>
            </a:pPr>
            <a:r>
              <a:t>50%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097280"/>
            <a:ext cx="3931920" cy="4846320"/>
          </a:xfrm>
          <a:prstGeom prst="roundRect">
            <a:avLst/>
          </a:prstGeom>
          <a:solidFill>
            <a:srgbClr val="F5FA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기대효과</a:t>
            </a:r>
          </a:p>
          <a:p>
            <a:pPr algn="l">
              <a:spcBef>
                <a:spcPts val="1500"/>
              </a:spcBef>
              <a:defRPr sz="1600">
                <a:solidFill>
                  <a:srgbClr val="192A56"/>
                </a:solidFill>
              </a:defRPr>
            </a:pPr>
            <a:r>
              <a:t>📊 유실시간 60% 감소</a:t>
            </a:r>
          </a:p>
          <a:p>
            <a:pPr algn="l">
              <a:spcBef>
                <a:spcPts val="1500"/>
              </a:spcBef>
              <a:defRPr sz="1600">
                <a:solidFill>
                  <a:srgbClr val="192A56"/>
                </a:solidFill>
              </a:defRPr>
            </a:pPr>
            <a:r>
              <a:t>⚡ 대응속도 1000배 향상</a:t>
            </a:r>
          </a:p>
          <a:p>
            <a:pPr algn="l">
              <a:spcBef>
                <a:spcPts val="1500"/>
              </a:spcBef>
              <a:defRPr sz="1600">
                <a:solidFill>
                  <a:srgbClr val="192A56"/>
                </a:solidFill>
              </a:defRPr>
            </a:pPr>
            <a:r>
              <a:t>💰 가공비 3% 절감</a:t>
            </a:r>
          </a:p>
          <a:p>
            <a:pPr algn="l">
              <a:spcBef>
                <a:spcPts val="1500"/>
              </a:spcBef>
              <a:defRPr sz="1600">
                <a:solidFill>
                  <a:srgbClr val="192A56"/>
                </a:solidFill>
              </a:defRPr>
            </a:pPr>
            <a:r>
              <a:t>🎯 생산성 5% 증가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CC71"/>
                </a:solidFill>
              </a:defRPr>
            </a:pPr>
            <a:r>
              <a:t>전략 2: 불량 재발 Zero 시스템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731520"/>
          </a:xfrm>
          <a:prstGeom prst="roundRect">
            <a:avLst/>
          </a:prstGeom>
          <a:solidFill>
            <a:srgbClr val="E6FAE6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목표: 불량률 10% → 5% 개선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38404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🔍  1단계: 불량 발생 즉시 감지</a:t>
            </a:r>
          </a:p>
        </p:txBody>
      </p:sp>
      <p:sp>
        <p:nvSpPr>
          <p:cNvPr id="5" name="Down Arrow 4"/>
          <p:cNvSpPr/>
          <p:nvPr/>
        </p:nvSpPr>
        <p:spPr>
          <a:xfrm>
            <a:off x="2103120" y="3063239"/>
            <a:ext cx="365760" cy="182880"/>
          </a:xfrm>
          <a:prstGeom prst="down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291839"/>
            <a:ext cx="38404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🧠  2단계: 원인 자동 분석</a:t>
            </a:r>
          </a:p>
        </p:txBody>
      </p:sp>
      <p:sp>
        <p:nvSpPr>
          <p:cNvPr id="7" name="Down Arrow 6"/>
          <p:cNvSpPr/>
          <p:nvPr/>
        </p:nvSpPr>
        <p:spPr>
          <a:xfrm>
            <a:off x="2103120" y="4251959"/>
            <a:ext cx="365760" cy="182880"/>
          </a:xfrm>
          <a:prstGeom prst="down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480560"/>
            <a:ext cx="38404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🛡️  3단계: 재발 방지 조치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97280"/>
            <a:ext cx="3931920" cy="4846320"/>
          </a:xfrm>
          <a:prstGeom prst="roundRect">
            <a:avLst/>
          </a:prstGeom>
          <a:solidFill>
            <a:srgbClr val="F5FF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세부 실행 과제</a:t>
            </a:r>
          </a:p>
          <a:p>
            <a:pPr>
              <a:spcBef>
                <a:spcPts val="1200"/>
              </a:spcBef>
              <a:defRPr sz="1500">
                <a:solidFill>
                  <a:srgbClr val="192A56"/>
                </a:solidFill>
              </a:defRPr>
            </a:pPr>
            <a:r>
              <a:t>☑ 비전검사 시스템 도입</a:t>
            </a:r>
          </a:p>
          <a:p>
            <a:pPr>
              <a:spcBef>
                <a:spcPts val="1200"/>
              </a:spcBef>
              <a:defRPr sz="1500">
                <a:solidFill>
                  <a:srgbClr val="192A56"/>
                </a:solidFill>
              </a:defRPr>
            </a:pPr>
            <a:r>
              <a:t>☑ 불량 DB 구축 및 AI 분석</a:t>
            </a:r>
          </a:p>
          <a:p>
            <a:pPr>
              <a:spcBef>
                <a:spcPts val="1200"/>
              </a:spcBef>
              <a:defRPr sz="1500">
                <a:solidFill>
                  <a:srgbClr val="192A56"/>
                </a:solidFill>
              </a:defRPr>
            </a:pPr>
            <a:r>
              <a:t>☑ 작업자 실시간 알림</a:t>
            </a:r>
          </a:p>
          <a:p>
            <a:pPr>
              <a:spcBef>
                <a:spcPts val="1200"/>
              </a:spcBef>
              <a:defRPr sz="1500">
                <a:solidFill>
                  <a:srgbClr val="192A56"/>
                </a:solidFill>
              </a:defRPr>
            </a:pPr>
            <a:r>
              <a:t>☑ SOP 자동 업데이트</a:t>
            </a:r>
          </a:p>
          <a:p>
            <a:pPr>
              <a:spcBef>
                <a:spcPts val="1200"/>
              </a:spcBef>
              <a:defRPr sz="1500">
                <a:solidFill>
                  <a:srgbClr val="192A56"/>
                </a:solidFill>
              </a:defRPr>
            </a:pPr>
            <a:r>
              <a:t>☑ 예방점검 자동화</a:t>
            </a:r>
          </a:p>
          <a:p>
            <a:pPr>
              <a:spcBef>
                <a:spcPts val="1200"/>
              </a:spcBef>
              <a:defRPr sz="1500">
                <a:solidFill>
                  <a:srgbClr val="192A56"/>
                </a:solidFill>
              </a:defRPr>
            </a:pPr>
            <a:r>
              <a:t>☑ 품질 트렌드 분석</a:t>
            </a:r>
          </a:p>
          <a:p>
            <a:br/>
            <a:pPr algn="ctr">
              <a:spcBef>
                <a:spcPts val="2000"/>
              </a:spcBef>
              <a:defRPr sz="1600" b="1">
                <a:solidFill>
                  <a:srgbClr val="2ECC71"/>
                </a:solidFill>
              </a:defRPr>
            </a:pPr>
            <a:r>
              <a:t>기대효과</a:t>
            </a:r>
          </a:p>
          <a:p>
            <a:pPr algn="ctr">
              <a:defRPr sz="1400">
                <a:solidFill>
                  <a:srgbClr val="192A56"/>
                </a:solidFill>
              </a:defRPr>
            </a:pPr>
            <a:r>
              <a:t>불량비용 40% 절감</a:t>
            </a:r>
            <a:br/>
            <a:r>
              <a:t>고객 클레임 70% 감소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67E22"/>
                </a:solidFill>
              </a:defRPr>
            </a:pPr>
            <a:r>
              <a:t>전략 3: 설비 CAPA 증대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731520"/>
          </a:xfrm>
          <a:prstGeom prst="roundRect">
            <a:avLst/>
          </a:prstGeom>
          <a:solidFill>
            <a:srgbClr val="FFF5E6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목표: 생산능력 15% 향상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Tact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286000"/>
            <a:ext cx="320040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12초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697480"/>
            <a:ext cx="266700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설비 가동률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474720"/>
            <a:ext cx="266700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75%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886200"/>
            <a:ext cx="320040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일일 생산량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663440"/>
            <a:ext cx="2782956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5000개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5074920"/>
            <a:ext cx="320040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5750개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011680"/>
            <a:ext cx="27432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9659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현재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011680"/>
            <a:ext cx="2743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19659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7E22"/>
                </a:solidFill>
              </a:defRPr>
            </a:pPr>
            <a:r>
              <a:t>목표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200400"/>
            <a:ext cx="3931920" cy="2743200"/>
          </a:xfrm>
          <a:prstGeom prst="roundRect">
            <a:avLst/>
          </a:prstGeom>
          <a:solidFill>
            <a:srgbClr val="FFFAF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실행 계획</a:t>
            </a:r>
          </a:p>
          <a:p>
            <a:pPr>
              <a:spcBef>
                <a:spcPts val="800"/>
              </a:spcBef>
              <a:defRPr sz="1300">
                <a:solidFill>
                  <a:srgbClr val="192A56"/>
                </a:solidFill>
              </a:defRPr>
            </a:pPr>
            <a:r>
              <a:t>1. 병목공정 분석 및 개선</a:t>
            </a:r>
          </a:p>
          <a:p>
            <a:pPr>
              <a:spcBef>
                <a:spcPts val="800"/>
              </a:spcBef>
              <a:defRPr sz="1300">
                <a:solidFill>
                  <a:srgbClr val="192A56"/>
                </a:solidFill>
              </a:defRPr>
            </a:pPr>
            <a:r>
              <a:t>2. 고속화 설비 개조</a:t>
            </a:r>
          </a:p>
          <a:p>
            <a:pPr>
              <a:spcBef>
                <a:spcPts val="800"/>
              </a:spcBef>
              <a:defRPr sz="1300">
                <a:solidFill>
                  <a:srgbClr val="192A56"/>
                </a:solidFill>
              </a:defRPr>
            </a:pPr>
            <a:r>
              <a:t>3. 자동화 라인 증설</a:t>
            </a:r>
          </a:p>
          <a:p>
            <a:pPr>
              <a:spcBef>
                <a:spcPts val="800"/>
              </a:spcBef>
              <a:defRPr sz="1300">
                <a:solidFill>
                  <a:srgbClr val="192A56"/>
                </a:solidFill>
              </a:defRPr>
            </a:pPr>
            <a:r>
              <a:t>4. 작업 동선 최적화</a:t>
            </a:r>
          </a:p>
          <a:p>
            <a:pPr>
              <a:spcBef>
                <a:spcPts val="800"/>
              </a:spcBef>
              <a:defRPr sz="1300">
                <a:solidFill>
                  <a:srgbClr val="192A56"/>
                </a:solidFill>
              </a:defRPr>
            </a:pPr>
            <a:r>
              <a:t>5. 다기능 작업자 양성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B59B6"/>
                </a:solidFill>
              </a:defRPr>
            </a:pPr>
            <a:r>
              <a:t>전략 4: 설비관리 혁신방안 (신규)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F5EBFF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9B59B6"/>
                </a:solidFill>
              </a:defRPr>
            </a:pPr>
            <a:r>
              <a:t>목표: 예방보전 체계 고도화로 설비 고장 50% 감소 및 설비 수명 20% 연장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9319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🔧 예방보전 고도화</a:t>
            </a:r>
          </a:p>
          <a:p>
            <a:pPr>
              <a:spcBef>
                <a:spcPts val="600"/>
              </a:spcBef>
              <a:defRPr sz="1200">
                <a:solidFill>
                  <a:srgbClr val="192A56"/>
                </a:solidFill>
              </a:defRPr>
            </a:pPr>
            <a:r>
              <a:t>• 주기 기반 → 상태 기반</a:t>
            </a:r>
          </a:p>
          <a:p>
            <a:pPr>
              <a:spcBef>
                <a:spcPts val="600"/>
              </a:spcBef>
              <a:defRPr sz="1200">
                <a:solidFill>
                  <a:srgbClr val="192A56"/>
                </a:solidFill>
              </a:defRPr>
            </a:pPr>
            <a:r>
              <a:t>• IoT 센서 실시간 모니터링</a:t>
            </a:r>
          </a:p>
          <a:p>
            <a:pPr>
              <a:spcBef>
                <a:spcPts val="600"/>
              </a:spcBef>
              <a:defRPr sz="1200">
                <a:solidFill>
                  <a:srgbClr val="192A56"/>
                </a:solidFill>
              </a:defRPr>
            </a:pPr>
            <a:r>
              <a:t>• 이상징후 조기 감지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011680"/>
            <a:ext cx="39319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📋 설비 이력 관리</a:t>
            </a:r>
          </a:p>
          <a:p>
            <a:pPr>
              <a:spcBef>
                <a:spcPts val="600"/>
              </a:spcBef>
              <a:defRPr sz="1200">
                <a:solidFill>
                  <a:srgbClr val="192A56"/>
                </a:solidFill>
              </a:defRPr>
            </a:pPr>
            <a:r>
              <a:t>• 설비별 정비 이력 DB화</a:t>
            </a:r>
          </a:p>
          <a:p>
            <a:pPr>
              <a:spcBef>
                <a:spcPts val="600"/>
              </a:spcBef>
              <a:defRPr sz="1200">
                <a:solidFill>
                  <a:srgbClr val="192A56"/>
                </a:solidFill>
              </a:defRPr>
            </a:pPr>
            <a:r>
              <a:t>• 고장 패턴 분석</a:t>
            </a:r>
          </a:p>
          <a:p>
            <a:pPr>
              <a:spcBef>
                <a:spcPts val="600"/>
              </a:spcBef>
              <a:defRPr sz="1200">
                <a:solidFill>
                  <a:srgbClr val="192A56"/>
                </a:solidFill>
              </a:defRPr>
            </a:pPr>
            <a:r>
              <a:t>• 부품 교체 주기 최적화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39319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🎯 부품 수명 예측</a:t>
            </a:r>
          </a:p>
          <a:p>
            <a:pPr>
              <a:spcBef>
                <a:spcPts val="600"/>
              </a:spcBef>
              <a:defRPr sz="1200">
                <a:solidFill>
                  <a:srgbClr val="192A56"/>
                </a:solidFill>
              </a:defRPr>
            </a:pPr>
            <a:r>
              <a:t>• AI 기반 수명 예측</a:t>
            </a:r>
          </a:p>
          <a:p>
            <a:pPr>
              <a:spcBef>
                <a:spcPts val="600"/>
              </a:spcBef>
              <a:defRPr sz="1200">
                <a:solidFill>
                  <a:srgbClr val="192A56"/>
                </a:solidFill>
              </a:defRPr>
            </a:pPr>
            <a:r>
              <a:t>• 적기 부품 교체</a:t>
            </a:r>
          </a:p>
          <a:p>
            <a:pPr>
              <a:spcBef>
                <a:spcPts val="600"/>
              </a:spcBef>
              <a:defRPr sz="1200">
                <a:solidFill>
                  <a:srgbClr val="192A56"/>
                </a:solidFill>
              </a:defRPr>
            </a:pPr>
            <a:r>
              <a:t>• 재고 최적화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4114800"/>
            <a:ext cx="39319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⚡ 긴급 정비 체계</a:t>
            </a:r>
          </a:p>
          <a:p>
            <a:pPr>
              <a:spcBef>
                <a:spcPts val="600"/>
              </a:spcBef>
              <a:defRPr sz="1200">
                <a:solidFill>
                  <a:srgbClr val="192A56"/>
                </a:solidFill>
              </a:defRPr>
            </a:pPr>
            <a:r>
              <a:t>• 24시간 대응 체계</a:t>
            </a:r>
          </a:p>
          <a:p>
            <a:pPr>
              <a:spcBef>
                <a:spcPts val="600"/>
              </a:spcBef>
              <a:defRPr sz="1200">
                <a:solidFill>
                  <a:srgbClr val="192A56"/>
                </a:solidFill>
              </a:defRPr>
            </a:pPr>
            <a:r>
              <a:t>• 비상부품 확보</a:t>
            </a:r>
          </a:p>
          <a:p>
            <a:pPr>
              <a:spcBef>
                <a:spcPts val="600"/>
              </a:spcBef>
              <a:defRPr sz="1200">
                <a:solidFill>
                  <a:srgbClr val="192A56"/>
                </a:solidFill>
              </a:defRPr>
            </a:pPr>
            <a:r>
              <a:t>• 협력업체 네트워크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2026 평가가동 효율 목표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2860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498DB"/>
                </a:solidFill>
              </a:defRPr>
            </a:pPr>
            <a:r>
              <a:t>SMD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498DB"/>
                </a:solidFill>
              </a:defRPr>
            </a:pPr>
            <a:r>
              <a:t>91%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F8C8D"/>
                </a:solidFill>
              </a:defRPr>
            </a:pPr>
            <a:r>
              <a:t>2026 목표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566160"/>
            <a:ext cx="1737360" cy="457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7F8C8D"/>
                </a:solidFill>
              </a:defRPr>
            </a:pPr>
            <a:r>
              <a:t>현재: 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114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98DB"/>
                </a:solidFill>
              </a:defRPr>
            </a:pPr>
            <a:r>
              <a:t>↑ 6%p 향상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2860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</a:defRPr>
            </a:pPr>
            <a:r>
              <a:t>RADIAL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9456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</a:defRPr>
            </a:pPr>
            <a: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089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F8C8D"/>
                </a:solidFill>
              </a:defRPr>
            </a:pPr>
            <a:r>
              <a:t>2026 목표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566160"/>
            <a:ext cx="1737360" cy="457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7F8C8D"/>
                </a:solidFill>
              </a:defRPr>
            </a:pPr>
            <a:r>
              <a:t>현재: 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114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</a:defRPr>
            </a:pPr>
            <a:r>
              <a:t>↑ 7%p 향상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371600"/>
            <a:ext cx="22860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544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67E22"/>
                </a:solidFill>
              </a:defRPr>
            </a:pPr>
            <a:r>
              <a:t>AXIAL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9456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67E22"/>
                </a:solidFill>
              </a:defRPr>
            </a:pPr>
            <a:r>
              <a:t>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089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F8C8D"/>
                </a:solidFill>
              </a:defRPr>
            </a:pPr>
            <a:r>
              <a:t>2026 목표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566160"/>
            <a:ext cx="1737360" cy="457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7F8C8D"/>
                </a:solidFill>
              </a:defRPr>
            </a:pPr>
            <a:r>
              <a:t>현재: 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4114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</a:defRPr>
            </a:pPr>
            <a:r>
              <a:t>↑ 5%p 향상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8229600" cy="9144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A56"/>
                </a:solidFill>
              </a:defRPr>
            </a:pPr>
            <a:r>
              <a:t>핵심 전략</a:t>
            </a:r>
          </a:p>
          <a:p>
            <a:pPr algn="ctr"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순간유실 Zero + 불량재발 Zero + 설비CAPA 증대 + 설비관리 혁신 = 평가가동 효율 극대화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2026 실행 로드맵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097280"/>
            <a:ext cx="1463039" cy="457200"/>
          </a:xfrm>
          <a:prstGeom prst="round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097280"/>
            <a:ext cx="1463039" cy="457200"/>
          </a:xfrm>
          <a:prstGeom prst="round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097280"/>
            <a:ext cx="1463039" cy="457200"/>
          </a:xfrm>
          <a:prstGeom prst="round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097280"/>
            <a:ext cx="1463039" cy="457200"/>
          </a:xfrm>
          <a:prstGeom prst="round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645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3498DB"/>
                </a:solidFill>
              </a:defRPr>
            </a:pPr>
            <a:r>
              <a:t>순간유실 Zero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920240"/>
            <a:ext cx="1463039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1920240"/>
            <a:ext cx="1463039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4960" y="1920240"/>
            <a:ext cx="1463039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0" y="1920240"/>
            <a:ext cx="1463039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645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2ECC71"/>
                </a:solidFill>
              </a:defRPr>
            </a:pPr>
            <a:r>
              <a:t>불량 재발 Zero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743200"/>
            <a:ext cx="1463039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2743200"/>
            <a:ext cx="1463039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4960" y="2743200"/>
            <a:ext cx="1463039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0" y="2743200"/>
            <a:ext cx="1463039" cy="36576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74720"/>
            <a:ext cx="1645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설비 CAPA 증대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3566160"/>
            <a:ext cx="1463039" cy="36576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40480" y="3566160"/>
            <a:ext cx="1463039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94960" y="3566160"/>
            <a:ext cx="1463039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9440" y="3566160"/>
            <a:ext cx="1463039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97680"/>
            <a:ext cx="1645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9B59B6"/>
                </a:solidFill>
              </a:defRPr>
            </a:pPr>
            <a:r>
              <a:t>설비관리 혁신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4389120"/>
            <a:ext cx="1463039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40480" y="4389120"/>
            <a:ext cx="1463039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94960" y="4389120"/>
            <a:ext cx="1463039" cy="36576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0" y="4389120"/>
            <a:ext cx="1463039" cy="36576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4434840" y="5029200"/>
            <a:ext cx="365760" cy="365760"/>
          </a:xfrm>
          <a:prstGeom prst="diamond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5486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74C3C"/>
                </a:solidFill>
              </a:defRPr>
            </a:pPr>
            <a:r>
              <a:t>중간 점검</a:t>
            </a:r>
          </a:p>
        </p:txBody>
      </p:sp>
      <p:sp>
        <p:nvSpPr>
          <p:cNvPr id="29" name="Diamond 28"/>
          <p:cNvSpPr/>
          <p:nvPr/>
        </p:nvSpPr>
        <p:spPr>
          <a:xfrm>
            <a:off x="7543800" y="5029200"/>
            <a:ext cx="365760" cy="365760"/>
          </a:xfrm>
          <a:prstGeom prst="diamond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5486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74C3C"/>
                </a:solidFill>
              </a:defRPr>
            </a:pPr>
            <a:r>
              <a:t>성과 평가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2026 핵심 KPI 대시보드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1828800" cy="182880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1508760"/>
            <a:ext cx="1554480" cy="1554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8288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3498DB"/>
                </a:solidFill>
              </a:defRPr>
            </a:pPr>
            <a:r>
              <a:t>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2A56"/>
                </a:solidFill>
              </a:defRPr>
            </a:pPr>
            <a:r>
              <a:t>가공비 절감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1371600"/>
            <a:ext cx="1828800" cy="182880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94760" y="1508760"/>
            <a:ext cx="1554480" cy="15544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18288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914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</a:defRPr>
            </a:pPr>
            <a: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83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2A56"/>
                </a:solidFill>
              </a:defRPr>
            </a:pPr>
            <a:r>
              <a:t>품질 개선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1371600"/>
            <a:ext cx="1828800" cy="182880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1508760"/>
            <a:ext cx="1554480" cy="15544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0" y="18288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011680"/>
            <a:ext cx="914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E67E22"/>
                </a:solidFill>
              </a:defRPr>
            </a:pPr>
            <a:r>
              <a:t>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2A56"/>
                </a:solidFill>
              </a:defRPr>
            </a:pPr>
            <a:r>
              <a:t>유실시간 감소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8229600" cy="1828800"/>
          </a:xfrm>
          <a:prstGeom prst="roundRect">
            <a:avLst/>
          </a:prstGeom>
          <a:solidFill>
            <a:srgbClr val="F5F8FA"/>
          </a:solidFill>
          <a:ln w="25400"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2A56"/>
                </a:solidFill>
              </a:defRPr>
            </a:pPr>
            <a:r>
              <a:t>세부 성과 지표</a:t>
            </a:r>
          </a:p>
          <a:p>
            <a:pPr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• 순간유실시간: 5% → 2% (60% 감소)</a:t>
            </a:r>
          </a:p>
          <a:p>
            <a:pPr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• 불량률: 10% → 5% (50% 개선)</a:t>
            </a:r>
          </a:p>
          <a:p>
            <a:pPr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• 설비 가동률: 75% → 90% (15%p 향상)</a:t>
            </a:r>
          </a:p>
          <a:p>
            <a:pPr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• 평가가동 효율: SMD 91%, RADIAL 85%, AXIAL 85%</a:t>
            </a:r>
          </a:p>
          <a:p>
            <a:pPr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• 설비 고장: 50% 감소, 수명 20% 연장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