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286000"/>
            <a:ext cx="5486400" cy="2286000"/>
          </a:xfrm>
          <a:prstGeom prst="roundRect">
            <a:avLst/>
          </a:prstGeom>
          <a:solidFill>
            <a:srgbClr val="FFFFFF"/>
          </a:solidFill>
          <a:ln w="635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800" b="1">
                <a:solidFill>
                  <a:srgbClr val="3498DB"/>
                </a:solidFill>
              </a:defRPr>
            </a:pPr>
            <a:r>
              <a:t>2026</a:t>
            </a:r>
          </a:p>
          <a:p>
            <a:pPr algn="ctr">
              <a:spcAft>
                <a:spcPts val="1500"/>
              </a:spcAft>
              <a:defRPr sz="5600" b="1">
                <a:solidFill>
                  <a:srgbClr val="19376D"/>
                </a:solidFill>
              </a:defRPr>
            </a:pPr>
            <a:r>
              <a:t>경영전략</a:t>
            </a:r>
          </a:p>
          <a:p>
            <a:pPr algn="ctr">
              <a:defRPr sz="1800">
                <a:solidFill>
                  <a:srgbClr val="7F8C8D"/>
                </a:solidFill>
              </a:defRPr>
            </a:pPr>
            <a:r>
              <a:t>제조1팀 스마트화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09728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가공비</a:t>
            </a:r>
            <a:br/>
            <a:r>
              <a:t>-10%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731520"/>
            <a:ext cx="109728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품질</a:t>
            </a:r>
            <a:br/>
            <a:r>
              <a:t>-10%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109728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손실시간</a:t>
            </a:r>
            <a:br/>
            <a:r>
              <a:t>-5%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5486400"/>
            <a:ext cx="1097280" cy="10058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OH</a:t>
            </a:r>
            <a:br/>
            <a:r>
              <a:t>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376D"/>
                </a:solidFill>
              </a:defRPr>
            </a:pPr>
            <a:r>
              <a:t>현황 → 전략 프로세스 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느린 대응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1645920"/>
            <a:ext cx="7315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01168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반복 작업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3017520"/>
            <a:ext cx="7315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201168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품질 문제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4389120"/>
            <a:ext cx="7315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286000"/>
            <a:ext cx="2743200" cy="1371600"/>
          </a:xfrm>
          <a:prstGeom prst="roundRect">
            <a:avLst/>
          </a:prstGeom>
          <a:solidFill>
            <a:srgbClr val="19376D"/>
          </a:solidFill>
          <a:ln w="508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3대 전략</a:t>
            </a:r>
          </a:p>
          <a:p>
            <a:pPr algn="ctr">
              <a:defRPr sz="1400">
                <a:solidFill>
                  <a:srgbClr val="AED6F1"/>
                </a:solidFill>
              </a:defRPr>
            </a:pPr>
            <a:r>
              <a:t>스마트화 솔루션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1645920"/>
            <a:ext cx="457200" cy="36576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210312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손실 시간</a:t>
            </a:r>
            <a:br/>
            <a:r>
              <a:t>제로화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3017520"/>
            <a:ext cx="457200" cy="3657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210312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불량 재발</a:t>
            </a:r>
            <a:br/>
            <a:r>
              <a:t>Zero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4389120"/>
            <a:ext cx="45720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4114800"/>
            <a:ext cx="21031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설비 CAPA</a:t>
            </a:r>
            <a:br/>
            <a:r>
              <a:t>증가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전략 1  →  손실 시간 제로화 프로젝트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645920" cy="16459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수집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MES 연동</a:t>
            </a:r>
            <a:br/>
            <a:r>
              <a:t>이상 감지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06040" y="2468880"/>
            <a:ext cx="274320" cy="36576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645920" cy="16459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분석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손실 항목</a:t>
            </a:r>
            <a:br/>
            <a:r>
              <a:t>순위화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17720" y="2468880"/>
            <a:ext cx="274320" cy="36576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1645920" cy="164592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실행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TOP 10</a:t>
            </a:r>
            <a:br/>
            <a:r>
              <a:t>집중 개선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29400" y="2468880"/>
            <a:ext cx="274320" cy="36576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1645920" cy="164592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결과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5% 감소</a:t>
            </a:r>
            <a:br/>
            <a:r>
              <a:t>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376D"/>
                </a:solidFill>
              </a:defRPr>
            </a:pPr>
            <a:r>
              <a:t>핵심 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495E"/>
                </a:solidFill>
              </a:defRPr>
            </a:pPr>
            <a:r>
              <a:t>✓ 자동분석 TOOL 제작 → MES DATA 활용</a:t>
            </a:r>
          </a:p>
          <a:p>
            <a:pPr>
              <a:spcAft>
                <a:spcPts val="1200"/>
              </a:spcAft>
              <a:defRPr sz="1600">
                <a:solidFill>
                  <a:srgbClr val="34495E"/>
                </a:solidFill>
              </a:defRPr>
            </a:pPr>
            <a:r>
              <a:t>✓ 순간유실 가시화 → 모바일 앱 원터치 입력</a:t>
            </a:r>
          </a:p>
          <a:p>
            <a:pPr>
              <a:spcAft>
                <a:spcPts val="1200"/>
              </a:spcAft>
              <a:defRPr sz="1600">
                <a:solidFill>
                  <a:srgbClr val="34495E"/>
                </a:solidFill>
              </a:defRPr>
            </a:pPr>
            <a:r>
              <a:t>✓ LINE별 일/주/월 분석 → 우선순위 타겟팅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73152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 KPI: 손실시간 5% 감소 → 점당 가공비 직접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전략 2  →  불량 재발 Zero 챌린지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1371600" cy="109728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불량 발생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사진 촬영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371600"/>
            <a:ext cx="1371600" cy="109728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즉시 공유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MES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1371600" cy="109728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전 조 알람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자동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1371600" cy="109728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조치 입력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DB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114800"/>
            <a:ext cx="13716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재발 추적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Zero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57600"/>
            <a:ext cx="1371600" cy="1097280"/>
          </a:xfrm>
          <a:prstGeom prst="roundRect">
            <a:avLst/>
          </a:prstGeom>
          <a:solidFill>
            <a:srgbClr val="8E44AD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재발 방지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9376D"/>
                </a:solidFill>
              </a:defRPr>
            </a:pPr>
            <a:r>
              <a:t>순환</a:t>
            </a:r>
            <a:br/>
            <a:r>
              <a:t>프로세스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60720"/>
            <a:ext cx="73152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 KPI: 재발 불량 30% 감소 / 품질 불량 10%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전략 3  →  설비 CAPA 증가 및 공정 최적화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① C/T 단축 개선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P/G 운영 DEEP 분석  →  최단거리 프로세스  →  단 1초라도 줄이기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② 기본 BASE 강화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설비 효율 유지  →  성능/PM 관련 활동  →  지속적 모니터링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731520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③ 공정 최적화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RADIAL2 안정화  →  SMD LAY OUT 개선  →  설비 배치 효율화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6217920"/>
            <a:ext cx="73152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KPI: CAPA 증가 / OVERTIME 감소 / OH 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9376D"/>
                </a:solidFill>
              </a:defRPr>
            </a:pPr>
            <a:r>
              <a:t>2026 통합 실행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Q1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TOOL 개발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시스템 구축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앱 제작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2286000"/>
            <a:ext cx="137160" cy="45720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1371600"/>
            <a:ext cx="182880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Q2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파일럿 운영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피드백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개선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2286000"/>
            <a:ext cx="137160" cy="45720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1828800" cy="2286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Q3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전사 확대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교육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모니터링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46520" y="2286000"/>
            <a:ext cx="137160" cy="45720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371600"/>
            <a:ext cx="1828800" cy="2286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Q4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목표 달성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성과 점검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2027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376D"/>
                </a:solidFill>
              </a:defRPr>
            </a:pPr>
            <a:r>
              <a:t>최종 목표 달성 플로우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1645920" cy="11887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기회손실</a:t>
            </a:r>
            <a:br/>
            <a:r>
              <a:t>최소화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5212080"/>
            <a:ext cx="182880" cy="27432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4754880"/>
            <a:ext cx="164592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가공비</a:t>
            </a:r>
            <a:br/>
            <a:r>
              <a:t>10% 절감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26280" y="5212080"/>
            <a:ext cx="182880" cy="27432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4754880"/>
            <a:ext cx="164592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품질</a:t>
            </a:r>
            <a:br/>
            <a:r>
              <a:t>10% 개선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46520" y="5212080"/>
            <a:ext cx="182880" cy="274320"/>
          </a:xfrm>
          <a:prstGeom prst="rightArrow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4754880"/>
            <a:ext cx="164592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OH</a:t>
            </a:r>
            <a:br/>
            <a:r>
              <a:t>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