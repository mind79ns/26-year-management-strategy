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제조1팀 경영전략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2021-2025 전략 분석 및 2026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분석 대상: 5개 전략 PPT, 72개 슬라이드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추출 데이터: 53개 과제, 67개 KPI, 754개 키워드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분석 개요 및 대상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484632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📂 분석 대상 파일</a:t>
            </a:r>
          </a:p>
          <a:p>
            <a:pPr>
              <a:spcBef>
                <a:spcPts val="1000"/>
              </a:spcBef>
              <a:defRPr sz="1300" b="1">
                <a:solidFill>
                  <a:srgbClr val="192A56"/>
                </a:solidFill>
              </a:defRPr>
            </a:pPr>
            <a:r>
              <a:t>• 21년 SMD 전략</a:t>
            </a:r>
          </a:p>
          <a:p>
            <a:pPr lvl="1">
              <a:defRPr sz="1100">
                <a:solidFill>
                  <a:srgbClr val="7F8C8D"/>
                </a:solidFill>
              </a:defRPr>
            </a:pPr>
            <a:r>
              <a:t>  8 슬라이드</a:t>
            </a:r>
          </a:p>
          <a:p>
            <a:pPr>
              <a:spcBef>
                <a:spcPts val="1000"/>
              </a:spcBef>
              <a:defRPr sz="1300" b="1">
                <a:solidFill>
                  <a:srgbClr val="192A56"/>
                </a:solidFill>
              </a:defRPr>
            </a:pPr>
            <a:r>
              <a:t>• 21년 경영전략 (상반기)</a:t>
            </a:r>
          </a:p>
          <a:p>
            <a:pPr lvl="1">
              <a:defRPr sz="1100">
                <a:solidFill>
                  <a:srgbClr val="7F8C8D"/>
                </a:solidFill>
              </a:defRPr>
            </a:pPr>
            <a:r>
              <a:t>  9 슬라이드</a:t>
            </a:r>
          </a:p>
          <a:p>
            <a:pPr>
              <a:spcBef>
                <a:spcPts val="1000"/>
              </a:spcBef>
              <a:defRPr sz="1300" b="1">
                <a:solidFill>
                  <a:srgbClr val="192A56"/>
                </a:solidFill>
              </a:defRPr>
            </a:pPr>
            <a:r>
              <a:t>• 21년 경영전략 (하반기)</a:t>
            </a:r>
          </a:p>
          <a:p>
            <a:pPr lvl="1">
              <a:defRPr sz="1100">
                <a:solidFill>
                  <a:srgbClr val="7F8C8D"/>
                </a:solidFill>
              </a:defRPr>
            </a:pPr>
            <a:r>
              <a:t>  22 슬라이드</a:t>
            </a:r>
          </a:p>
          <a:p>
            <a:pPr>
              <a:spcBef>
                <a:spcPts val="1000"/>
              </a:spcBef>
              <a:defRPr sz="1300" b="1">
                <a:solidFill>
                  <a:srgbClr val="192A56"/>
                </a:solidFill>
              </a:defRPr>
            </a:pPr>
            <a:r>
              <a:t>• 22년 제조1 경영전략</a:t>
            </a:r>
          </a:p>
          <a:p>
            <a:pPr lvl="1">
              <a:defRPr sz="1100">
                <a:solidFill>
                  <a:srgbClr val="7F8C8D"/>
                </a:solidFill>
              </a:defRPr>
            </a:pPr>
            <a:r>
              <a:t>  19 슬라이드</a:t>
            </a:r>
          </a:p>
          <a:p>
            <a:pPr>
              <a:spcBef>
                <a:spcPts val="1000"/>
              </a:spcBef>
              <a:defRPr sz="1300" b="1">
                <a:solidFill>
                  <a:srgbClr val="192A56"/>
                </a:solidFill>
              </a:defRPr>
            </a:pPr>
            <a:r>
              <a:t>• 22년 경영전략 (하반기)</a:t>
            </a:r>
          </a:p>
          <a:p>
            <a:pPr lvl="1">
              <a:defRPr sz="1100">
                <a:solidFill>
                  <a:srgbClr val="7F8C8D"/>
                </a:solidFill>
              </a:defRPr>
            </a:pPr>
            <a:r>
              <a:t>  14 슬라이드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097280"/>
            <a:ext cx="384048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234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총 슬라이드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43000"/>
            <a:ext cx="1828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3498DB"/>
                </a:solidFill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384048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423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추출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1828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2ECC71"/>
                </a:solidFill>
              </a:defRPr>
            </a:pPr>
            <a: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474720"/>
            <a:ext cx="384048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611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추출 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20439"/>
            <a:ext cx="1828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E67E22"/>
                </a:solidFill>
              </a:defRPr>
            </a:pPr>
            <a:r>
              <a:t>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663440"/>
            <a:ext cx="384048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800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고유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1828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9B59B6"/>
                </a:solidFill>
              </a:defRPr>
            </a:pPr>
            <a:r>
              <a:t>754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주제 분포 분석 (Top 10)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생산성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80160"/>
            <a:ext cx="64008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280160"/>
            <a:ext cx="560070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8140" y="123444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3498DB"/>
                </a:solidFill>
              </a:defRPr>
            </a:pPr>
            <a:r>
              <a:t>63회 (87.5%)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39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실행계획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94560"/>
            <a:ext cx="64008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194560"/>
            <a:ext cx="4269333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6773" y="2148839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48회 (66.7%)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39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유실시간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108960"/>
            <a:ext cx="64008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3108960"/>
            <a:ext cx="4269333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6773" y="3063239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48회 (66.7%)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39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설비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023359"/>
            <a:ext cx="64008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4023359"/>
            <a:ext cx="4179722" cy="2743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7162" y="3977639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9B59B6"/>
                </a:solidFill>
              </a:defRPr>
            </a:pPr>
            <a:r>
              <a:t>47회 (65.3%)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1097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목표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937759"/>
            <a:ext cx="640080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4937759"/>
            <a:ext cx="3469233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6673" y="489204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39회 (54.2%)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60720"/>
            <a:ext cx="8229600" cy="822960"/>
          </a:xfrm>
          <a:prstGeom prst="roundRect">
            <a:avLst/>
          </a:prstGeom>
          <a:solidFill>
            <a:srgbClr val="FFFAE6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💡 핵심 인사이트</a:t>
            </a:r>
          </a:p>
          <a:p>
            <a:pPr>
              <a:defRPr sz="1400">
                <a:solidFill>
                  <a:srgbClr val="192A56"/>
                </a:solidFill>
              </a:defRPr>
            </a:pPr>
            <a:r>
              <a:t>생산성 향상(87.5%)이 압도적 1순위. 유실시간(66.7%)과 설비(65.3%)가 모든 전략의 기반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고빈도 키워드 분석 (Top 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개선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134회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16459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설비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75회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1463040" cy="5943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유실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69회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5544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관리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55회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286000"/>
            <a:ext cx="13716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과제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53회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468880"/>
            <a:ext cx="1645920" cy="5943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향상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51회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560320"/>
            <a:ext cx="128016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운영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46회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474720"/>
            <a:ext cx="146304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진행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44회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383280"/>
            <a:ext cx="137160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효율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41회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66160"/>
            <a:ext cx="118872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자동화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34회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8229600" cy="1645920"/>
          </a:xfrm>
          <a:prstGeom prst="roundRect">
            <a:avLst/>
          </a:prstGeom>
          <a:solidFill>
            <a:srgbClr val="F5F8FA"/>
          </a:solidFill>
          <a:ln w="254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2A56"/>
                </a:solidFill>
              </a:defRPr>
            </a:pPr>
            <a:r>
              <a:t>🔍 키워드 트렌드 분석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• 개선 중심: 개선(134) + 향상(51) = 185회 → 지속적 개선이 핵심 DNA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• 설비 관련: 설비(75) + 효율(41) = 116회 → 설비 중심 제조 혁신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• 유실시간: 유실(69) + 관리(55) = 124회 → 유실시간 감소가 최우선</a:t>
            </a:r>
          </a:p>
          <a:p>
            <a:pPr>
              <a:spcBef>
                <a:spcPts val="800"/>
              </a:spcBef>
              <a:defRPr sz="1300">
                <a:solidFill>
                  <a:srgbClr val="192A56"/>
                </a:solidFill>
              </a:defRPr>
            </a:pPr>
            <a:r>
              <a:t>• 실행 중심: 과제(53) + 진행(44) = 97회 → 체계적 실행력 강조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2021년 핵심 과제 및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💰 가공비 절감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KPI: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CAPA 23% ↓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가동율 24% ↓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인원 18% ↓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실행:</a:t>
            </a:r>
          </a:p>
          <a:p>
            <a:pPr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→ 설비능력 향상</a:t>
            </a:r>
          </a:p>
          <a:p>
            <a:pPr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→ 노무비 절감</a:t>
            </a:r>
          </a:p>
          <a:p>
            <a:pPr>
              <a:spcBef>
                <a:spcPts val="300"/>
              </a:spcBef>
              <a:defRPr sz="1100">
                <a:solidFill>
                  <a:srgbClr val="3498DB"/>
                </a:solidFill>
              </a:defRPr>
            </a:pPr>
            <a:r>
              <a:t>→ 월별 비용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⏱️ 유실시간 개선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KPI: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순간정지 개선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흡착율 관리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PM 활동 강화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실행:</a:t>
            </a:r>
          </a:p>
          <a:p>
            <a:pPr>
              <a:spcBef>
                <a:spcPts val="300"/>
              </a:spcBef>
              <a:defRPr sz="1100">
                <a:solidFill>
                  <a:srgbClr val="2ECC71"/>
                </a:solidFill>
              </a:defRPr>
            </a:pPr>
            <a:r>
              <a:t>→ WORST LINE 개선</a:t>
            </a:r>
          </a:p>
          <a:p>
            <a:pPr>
              <a:spcBef>
                <a:spcPts val="300"/>
              </a:spcBef>
              <a:defRPr sz="1100">
                <a:solidFill>
                  <a:srgbClr val="2ECC71"/>
                </a:solidFill>
              </a:defRPr>
            </a:pPr>
            <a:r>
              <a:t>→ 편차 분석</a:t>
            </a:r>
          </a:p>
          <a:p>
            <a:pPr>
              <a:spcBef>
                <a:spcPts val="300"/>
              </a:spcBef>
              <a:defRPr sz="1100">
                <a:solidFill>
                  <a:srgbClr val="2ECC71"/>
                </a:solidFill>
              </a:defRPr>
            </a:pPr>
            <a:r>
              <a:t>→ 습관화 정착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39319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🔧 설비 관리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KPI: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IMT 95% 비용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고장 89% 집중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예방보전 강화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실행:</a:t>
            </a:r>
          </a:p>
          <a:p>
            <a:pPr>
              <a:spcBef>
                <a:spcPts val="300"/>
              </a:spcBef>
              <a:defRPr sz="1100">
                <a:solidFill>
                  <a:srgbClr val="E67E22"/>
                </a:solidFill>
              </a:defRPr>
            </a:pPr>
            <a:r>
              <a:t>→ SPARE PART 관리</a:t>
            </a:r>
          </a:p>
          <a:p>
            <a:pPr>
              <a:spcBef>
                <a:spcPts val="300"/>
              </a:spcBef>
              <a:defRPr sz="1100">
                <a:solidFill>
                  <a:srgbClr val="E67E22"/>
                </a:solidFill>
              </a:defRPr>
            </a:pPr>
            <a:r>
              <a:t>→ 성능 복원</a:t>
            </a:r>
          </a:p>
          <a:p>
            <a:pPr>
              <a:spcBef>
                <a:spcPts val="300"/>
              </a:spcBef>
              <a:defRPr sz="1100">
                <a:solidFill>
                  <a:srgbClr val="E67E22"/>
                </a:solidFill>
              </a:defRPr>
            </a:pPr>
            <a:r>
              <a:t>→ 이력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657600"/>
            <a:ext cx="39319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9B59B6"/>
                </a:solidFill>
              </a:defRPr>
            </a:pPr>
            <a:r>
              <a:t>📈 생산성 향상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KPI: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SMD 효율 개선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Line별 최적화</a:t>
            </a:r>
          </a:p>
          <a:p>
            <a:pPr>
              <a:spcBef>
                <a:spcPts val="300"/>
              </a:spcBef>
              <a:defRPr sz="1100">
                <a:solidFill>
                  <a:srgbClr val="7F8C8D"/>
                </a:solidFill>
              </a:defRPr>
            </a:pPr>
            <a:r>
              <a:t>• CAPA 증대</a:t>
            </a:r>
          </a:p>
          <a:p>
            <a:br/>
            <a:pPr>
              <a:defRPr sz="1300" b="1">
                <a:solidFill>
                  <a:srgbClr val="192A56"/>
                </a:solidFill>
              </a:defRPr>
            </a:pPr>
            <a:r>
              <a:t>실행:</a:t>
            </a:r>
          </a:p>
          <a:p>
            <a:pPr>
              <a:spcBef>
                <a:spcPts val="300"/>
              </a:spcBef>
              <a:defRPr sz="1100">
                <a:solidFill>
                  <a:srgbClr val="9B59B6"/>
                </a:solidFill>
              </a:defRPr>
            </a:pPr>
            <a:r>
              <a:t>→ POINT BY POINT</a:t>
            </a:r>
          </a:p>
          <a:p>
            <a:pPr>
              <a:spcBef>
                <a:spcPts val="300"/>
              </a:spcBef>
              <a:defRPr sz="1100">
                <a:solidFill>
                  <a:srgbClr val="9B59B6"/>
                </a:solidFill>
              </a:defRPr>
            </a:pPr>
            <a:r>
              <a:t>→ 편차 개선</a:t>
            </a:r>
          </a:p>
          <a:p>
            <a:pPr>
              <a:spcBef>
                <a:spcPts val="300"/>
              </a:spcBef>
              <a:defRPr sz="1100">
                <a:solidFill>
                  <a:srgbClr val="9B59B6"/>
                </a:solidFill>
              </a:defRPr>
            </a:pPr>
            <a:r>
              <a:t>→ 자동화 확대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2022년 전략 진화 및 신규 과제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11680" cy="6400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수동 분석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1554480"/>
            <a:ext cx="914400" cy="27432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20116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실시간 모니터링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011680" cy="6400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예방 보전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468880"/>
            <a:ext cx="914400" cy="27432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20116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예측 보전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2011680" cy="6400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비용 절감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3383280"/>
            <a:ext cx="914400" cy="27432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3200400"/>
            <a:ext cx="20116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효율 향상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2011680" cy="6400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F8C8D"/>
                </a:solidFill>
              </a:defRPr>
            </a:pPr>
            <a:r>
              <a:t>개별 시스템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4297680"/>
            <a:ext cx="914400" cy="27432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4114800"/>
            <a:ext cx="201168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MES 통합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371600"/>
            <a:ext cx="2103120" cy="3840480"/>
          </a:xfrm>
          <a:prstGeom prst="roundRect">
            <a:avLst/>
          </a:prstGeom>
          <a:solidFill>
            <a:srgbClr val="FFFAE6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⭐ 2022 신규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디지털 전환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MES 본격 도입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IoT 센서 활용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AI 예측 분석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품질 자동화</a:t>
            </a:r>
          </a:p>
          <a:p>
            <a:pPr>
              <a:spcBef>
                <a:spcPts val="1000"/>
              </a:spcBef>
              <a:defRPr sz="1300">
                <a:solidFill>
                  <a:srgbClr val="192A56"/>
                </a:solidFill>
              </a:defRPr>
            </a:pPr>
            <a:r>
              <a:t>• 데이터 기반 결정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5943600" cy="82296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498DB"/>
                </a:solidFill>
              </a:defRPr>
            </a:pPr>
            <a:r>
              <a:t>📊 2022 예상 성과: 가공비 5-10% 절감 | 유실시간 10-15% 감소 | 설비 가동률 5-7% 향상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전략 연속성 및 2026 방향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7F8C8D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1463040"/>
            <a:ext cx="128016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743200" y="1097280"/>
            <a:ext cx="731520" cy="73152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74720" y="1463040"/>
            <a:ext cx="128016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754880" y="1097280"/>
            <a:ext cx="731520" cy="73152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2023-2025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1463040"/>
            <a:ext cx="128016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766560" y="1097280"/>
            <a:ext cx="731520" cy="731520"/>
          </a:xfrm>
          <a:prstGeom prst="ellipse">
            <a:avLst/>
          </a:prstGeom>
          <a:solidFill>
            <a:srgbClr val="D4AF3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645920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286000"/>
            <a:ext cx="2560320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2021-2022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286000"/>
            <a:ext cx="1828800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286000"/>
            <a:ext cx="1554480" cy="457200"/>
          </a:xfrm>
          <a:prstGeom prst="round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연속성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2A56"/>
                </a:solidFill>
              </a:defRPr>
            </a:pPr>
            <a:r>
              <a:t>유실시간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83464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수동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834640"/>
            <a:ext cx="1828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실시간 감지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34640"/>
            <a:ext cx="1554480" cy="457200"/>
          </a:xfrm>
          <a:prstGeom prst="roundRect">
            <a:avLst/>
          </a:prstGeom>
          <a:solidFill>
            <a:srgbClr val="F5FFF5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✓ 강화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2A56"/>
                </a:solidFill>
              </a:defRPr>
            </a:pPr>
            <a:r>
              <a:t>설비관리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8328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예방 보전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383280"/>
            <a:ext cx="1828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AI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383280"/>
            <a:ext cx="1554480" cy="457200"/>
          </a:xfrm>
          <a:prstGeom prst="roundRect">
            <a:avLst/>
          </a:prstGeom>
          <a:solidFill>
            <a:srgbClr val="F5FFF5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✓ 혁신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2A56"/>
                </a:solidFill>
              </a:defRPr>
            </a:pPr>
            <a:r>
              <a:t>가공비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3192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비용 절감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931920"/>
            <a:ext cx="1828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효율 극대화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931920"/>
            <a:ext cx="1554480" cy="457200"/>
          </a:xfrm>
          <a:prstGeom prst="roundRect">
            <a:avLst/>
          </a:prstGeom>
          <a:solidFill>
            <a:srgbClr val="F5FFF5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✓ 전환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6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2A56"/>
                </a:solidFill>
              </a:defRPr>
            </a:pPr>
            <a:r>
              <a:t>불량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48056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사후 대응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480560"/>
            <a:ext cx="1828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재발 Zero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4480560"/>
            <a:ext cx="1554480" cy="457200"/>
          </a:xfrm>
          <a:prstGeom prst="roundRect">
            <a:avLst/>
          </a:prstGeom>
          <a:solidFill>
            <a:srgbClr val="FFFAE6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★ 신규 강화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645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2A56"/>
                </a:solidFill>
              </a:defRPr>
            </a:pPr>
            <a:r>
              <a:t>자동화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02920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개별 도입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5029200"/>
            <a:ext cx="1828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MES 통합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5029200"/>
            <a:ext cx="1554480" cy="457200"/>
          </a:xfrm>
          <a:prstGeom prst="roundRect">
            <a:avLst/>
          </a:prstGeom>
          <a:solidFill>
            <a:srgbClr val="F5FFF5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92A56"/>
                </a:solidFill>
              </a:defRPr>
            </a:pPr>
            <a:r>
              <a:t>✓ 확대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FF5EB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🎯 2026 차별화 전략</a:t>
            </a:r>
          </a:p>
          <a:p>
            <a:pPr>
              <a:defRPr sz="1400">
                <a:solidFill>
                  <a:srgbClr val="192A56"/>
                </a:solidFill>
              </a:defRPr>
            </a:pPr>
            <a:r>
              <a:t>과거 기반 유지·강화 + 불량 재발 Zero 신규 강화 + 설비관리 혁신으로 도약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2026 전략: 과거 경험 + 기술 혁신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1371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A56"/>
                </a:solidFill>
              </a:defRPr>
            </a:pPr>
            <a:r>
              <a:t>📋 순간유실 Zero</a:t>
            </a:r>
          </a:p>
          <a:p>
            <a:r>
              <a:t>과거</a:t>
            </a:r>
          </a:p>
          <a:p>
            <a:br/>
            <a:pPr algn="l">
              <a:defRPr sz="1100">
                <a:solidFill>
                  <a:srgbClr val="7F8C8D"/>
                </a:solidFill>
              </a:defRPr>
            </a:pPr>
            <a:r>
              <a:t>2021: 순간정지 개선</a:t>
            </a:r>
            <a:br/>
            <a:r>
              <a:t>2022: 실시간 모니터링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00400" y="1554480"/>
            <a:ext cx="1097280" cy="4572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진화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097280"/>
            <a:ext cx="2560320" cy="1371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⭐ 2026</a:t>
            </a:r>
          </a:p>
          <a:p>
            <a:br/>
            <a:pPr algn="l">
              <a:defRPr sz="1100">
                <a:solidFill>
                  <a:srgbClr val="FFFFFF"/>
                </a:solidFill>
              </a:defRPr>
            </a:pPr>
            <a:r>
              <a:t>2026: AI 실시간 감지</a:t>
            </a:r>
            <a:br/>
            <a:r>
              <a:t>자동 대응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1280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1000배 빠른 대응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560320" cy="1371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A56"/>
                </a:solidFill>
              </a:defRPr>
            </a:pPr>
            <a:r>
              <a:t>📋 불량재발 Zero</a:t>
            </a:r>
          </a:p>
          <a:p>
            <a:r>
              <a:t>과거</a:t>
            </a:r>
          </a:p>
          <a:p>
            <a:br/>
            <a:pPr algn="l">
              <a:defRPr sz="1100">
                <a:solidFill>
                  <a:srgbClr val="7F8C8D"/>
                </a:solidFill>
              </a:defRPr>
            </a:pPr>
            <a:r>
              <a:t>2021: 사후 분석</a:t>
            </a:r>
            <a:br/>
            <a:r>
              <a:t>2022: 재발 방지 시작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3200400"/>
            <a:ext cx="109728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진화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2560320" cy="1371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⭐ 2026</a:t>
            </a:r>
          </a:p>
          <a:p>
            <a:br/>
            <a:pPr algn="l">
              <a:defRPr sz="1100">
                <a:solidFill>
                  <a:srgbClr val="FFFFFF"/>
                </a:solidFill>
              </a:defRPr>
            </a:pPr>
            <a:r>
              <a:t>2026: 비전검사 + AI</a:t>
            </a:r>
            <a:br/>
            <a:r>
              <a:t>불량 DB 패턴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017520"/>
            <a:ext cx="1280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CC71"/>
                </a:solidFill>
              </a:defRPr>
            </a:pPr>
            <a:r>
              <a:t>재발률 70% 감소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560320" cy="1371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A56"/>
                </a:solidFill>
              </a:defRPr>
            </a:pPr>
            <a:r>
              <a:t>📋 설비 CAPA 증대</a:t>
            </a:r>
          </a:p>
          <a:p>
            <a:r>
              <a:t>과거</a:t>
            </a:r>
          </a:p>
          <a:p>
            <a:br/>
            <a:pPr algn="l">
              <a:defRPr sz="1100">
                <a:solidFill>
                  <a:srgbClr val="7F8C8D"/>
                </a:solidFill>
              </a:defRPr>
            </a:pPr>
            <a:r>
              <a:t>2021: CAPA 향상 활동</a:t>
            </a:r>
            <a:br/>
            <a:r>
              <a:t>2022: 병목 개선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4846320"/>
            <a:ext cx="1097280" cy="45720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진화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389120"/>
            <a:ext cx="256032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⭐ 2026</a:t>
            </a:r>
          </a:p>
          <a:p>
            <a:br/>
            <a:pPr algn="l">
              <a:defRPr sz="1100">
                <a:solidFill>
                  <a:srgbClr val="FFFFFF"/>
                </a:solidFill>
              </a:defRPr>
            </a:pPr>
            <a:r>
              <a:t>2026: 고속화 + 자동화</a:t>
            </a:r>
            <a:br/>
            <a:r>
              <a:t>Line 증설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663440"/>
            <a:ext cx="128016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7E22"/>
                </a:solidFill>
              </a:defRPr>
            </a:pPr>
            <a:r>
              <a:t>생산능력 15%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F5EB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★ 전략4: 설비관리 혁신 (신규)</a:t>
            </a:r>
          </a:p>
          <a:p>
            <a:pPr>
              <a:defRPr sz="1300">
                <a:solidFill>
                  <a:srgbClr val="192A56"/>
                </a:solidFill>
              </a:defRPr>
            </a:pPr>
            <a:r>
              <a:t>과거 예방보전 → 2026 IoT 센서 + AI 수명 예측 + 긴급 대응 체계 (설비 고장 50% 감소)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결론: 2021-2026 전략의 완성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286000" cy="18288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2021-2022</a:t>
            </a:r>
          </a:p>
          <a:p>
            <a:r>
              <a:t>기반 구축</a:t>
            </a:r>
          </a:p>
          <a:p>
            <a:br/>
            <a:pPr algn="l">
              <a:defRPr sz="1200">
                <a:solidFill>
                  <a:srgbClr val="FFFFFF"/>
                </a:solidFill>
              </a:defRPr>
            </a:pPr>
            <a:r>
              <a:t>• 문제 인식</a:t>
            </a:r>
            <a:br/>
            <a:r>
              <a:t>• 개선 활동 정착</a:t>
            </a:r>
            <a:br/>
            <a:r>
              <a:t>• 데이터 수집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2286000" cy="18288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2023-2025</a:t>
            </a:r>
          </a:p>
          <a:p>
            <a:r>
              <a:t>체계화</a:t>
            </a:r>
          </a:p>
          <a:p>
            <a:br/>
            <a:pPr algn="l">
              <a:defRPr sz="1200">
                <a:solidFill>
                  <a:srgbClr val="FFFFFF"/>
                </a:solidFill>
              </a:defRPr>
            </a:pPr>
            <a:r>
              <a:t>• 시스템 고도화</a:t>
            </a:r>
            <a:br/>
            <a:r>
              <a:t>• MES 연동</a:t>
            </a:r>
            <a:br/>
            <a:r>
              <a:t>• 자동화 확대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286000" cy="18288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2026</a:t>
            </a:r>
          </a:p>
          <a:p>
            <a:r>
              <a:t>혁신 도약</a:t>
            </a:r>
          </a:p>
          <a:p>
            <a:br/>
            <a:pPr algn="l">
              <a:defRPr sz="1200">
                <a:solidFill>
                  <a:srgbClr val="FFFFFF"/>
                </a:solidFill>
              </a:defRPr>
            </a:pPr>
            <a:r>
              <a:t>• AI/IoT 활용</a:t>
            </a:r>
            <a:br/>
            <a:r>
              <a:t>• 실시간 대응</a:t>
            </a:r>
            <a:br/>
            <a:r>
              <a:t>• 통합 플랫폼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1828800"/>
            <a:ext cx="45720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943600" y="1828800"/>
            <a:ext cx="457200" cy="3657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8229600" cy="2286000"/>
          </a:xfrm>
          <a:prstGeom prst="roundRect">
            <a:avLst/>
          </a:prstGeom>
          <a:solidFill>
            <a:srgbClr val="F5FAFF"/>
          </a:solidFill>
          <a:ln w="38100"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2A56"/>
                </a:solidFill>
              </a:defRPr>
            </a:pPr>
            <a:r>
              <a:t>🎯 2026 기대효과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3498DB"/>
                </a:solidFill>
              </a:defRPr>
            </a:pPr>
            <a:r>
              <a:t>💰 가공비 10% 절감</a:t>
            </a:r>
          </a:p>
          <a:p>
            <a:pPr lvl="1">
              <a:defRPr sz="1200">
                <a:solidFill>
                  <a:srgbClr val="7F8C8D"/>
                </a:solidFill>
              </a:defRPr>
            </a:pPr>
            <a:r>
              <a:t>  → 연간 수억원 비용 절감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2ECC71"/>
                </a:solidFill>
              </a:defRPr>
            </a:pPr>
            <a:r>
              <a:t>📈 품질 10% 개선</a:t>
            </a:r>
          </a:p>
          <a:p>
            <a:pPr lvl="1">
              <a:defRPr sz="1200">
                <a:solidFill>
                  <a:srgbClr val="7F8C8D"/>
                </a:solidFill>
              </a:defRPr>
            </a:pPr>
            <a:r>
              <a:t>  → 고객 만족도 대폭 향상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E67E22"/>
                </a:solidFill>
              </a:defRPr>
            </a:pPr>
            <a:r>
              <a:t>⏱️ 유실시간 60% 감소</a:t>
            </a:r>
          </a:p>
          <a:p>
            <a:pPr lvl="1">
              <a:defRPr sz="1200">
                <a:solidFill>
                  <a:srgbClr val="7F8C8D"/>
                </a:solidFill>
              </a:defRPr>
            </a:pPr>
            <a:r>
              <a:t>  → 생산성 5% 증가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9B59B6"/>
                </a:solidFill>
              </a:defRPr>
            </a:pPr>
            <a:r>
              <a:t>🔧 설비 수명 20% 연장</a:t>
            </a:r>
          </a:p>
          <a:p>
            <a:pPr lvl="1">
              <a:defRPr sz="1200">
                <a:solidFill>
                  <a:srgbClr val="7F8C8D"/>
                </a:solidFill>
              </a:defRPr>
            </a:pPr>
            <a:r>
              <a:t>  → 투자비 장기 절감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E74C3C"/>
                </a:solidFill>
              </a:defRPr>
            </a:pPr>
            <a:r>
              <a:t>📊 평가가동 효율</a:t>
            </a:r>
          </a:p>
          <a:p>
            <a:pPr lvl="1">
              <a:defRPr sz="1200">
                <a:solidFill>
                  <a:srgbClr val="7F8C8D"/>
                </a:solidFill>
              </a:defRPr>
            </a:pPr>
            <a:r>
              <a:t>  → SMD 91%, RADIAL 85%, AXIAL 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과거 5년의 경험과 노하우 + 최신 기술 = 2026년 스마트 제조 혁신 완성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