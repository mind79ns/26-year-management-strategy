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5F5F5"/>
                </a:solidFill>
              </a:defRPr>
            </a:pPr>
            <a:r>
              <a:t>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12121"/>
                </a:solidFill>
              </a:defRPr>
            </a:pPr>
            <a:r>
              <a:t>경영전략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575"/>
                </a:solidFill>
              </a:defRPr>
            </a:pPr>
            <a:r>
              <a:t>제조1팀 자동화 제조라인 스마트화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029200"/>
            <a:ext cx="1828800" cy="1828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핵심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2743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600" b="1">
                <a:solidFill>
                  <a:srgbClr val="007AFF"/>
                </a:solidFill>
              </a:defRPr>
            </a:pPr>
            <a:r>
              <a:t>-10%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55448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>
                <a:solidFill>
                  <a:srgbClr val="212121"/>
                </a:solidFill>
              </a:defRPr>
            </a:pPr>
            <a:r>
              <a:t>가공비 절감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73152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743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600" b="1">
                <a:solidFill>
                  <a:srgbClr val="34C759"/>
                </a:solidFill>
              </a:defRPr>
            </a:pPr>
            <a:r>
              <a:t>-10%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>
                <a:solidFill>
                  <a:srgbClr val="212121"/>
                </a:solidFill>
              </a:defRPr>
            </a:pPr>
            <a:r>
              <a:t>품질 개선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73152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27432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600" b="1">
                <a:solidFill>
                  <a:srgbClr val="FF3B30"/>
                </a:solidFill>
              </a:defRPr>
            </a:pPr>
            <a:r>
              <a:t>-5%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4114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200">
                <a:solidFill>
                  <a:srgbClr val="212121"/>
                </a:solidFill>
              </a:defRPr>
            </a:pPr>
            <a:r>
              <a:t>손실시간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806440"/>
            <a:ext cx="7315200" cy="91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현황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4800" b="1">
                <a:solidFill>
                  <a:srgbClr val="F5F5F5"/>
                </a:solidFill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sz="2000" b="1">
                <a:solidFill>
                  <a:srgbClr val="212121"/>
                </a:solidFill>
              </a:defRPr>
            </a:pPr>
            <a:r>
              <a:t>느린 대응</a:t>
            </a:r>
          </a:p>
          <a:p>
            <a:pPr>
              <a:spcAft>
                <a:spcPts val="2500"/>
              </a:spcAft>
              <a:defRPr sz="1300">
                <a:solidFill>
                  <a:srgbClr val="757575"/>
                </a:solidFill>
              </a:defRPr>
            </a:pPr>
            <a:r>
              <a:t>설비 이상 DATA 집계 대응으로</a:t>
            </a:r>
            <a:br/>
            <a:r>
              <a:t>기회 손실 발생</a:t>
            </a:r>
          </a:p>
          <a:p>
            <a:pPr>
              <a:spcAft>
                <a:spcPts val="500"/>
              </a:spcAft>
              <a:defRPr sz="4800" b="1">
                <a:solidFill>
                  <a:srgbClr val="F5F5F5"/>
                </a:solidFill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sz="2000" b="1">
                <a:solidFill>
                  <a:srgbClr val="212121"/>
                </a:solidFill>
              </a:defRPr>
            </a:pPr>
            <a:r>
              <a:t>반복 작업</a:t>
            </a:r>
          </a:p>
          <a:p>
            <a:pPr>
              <a:spcAft>
                <a:spcPts val="2500"/>
              </a:spcAft>
              <a:defRPr sz="1300">
                <a:solidFill>
                  <a:srgbClr val="757575"/>
                </a:solidFill>
              </a:defRPr>
            </a:pPr>
            <a:r>
              <a:t>수동적 원인 분석으로</a:t>
            </a:r>
            <a:br/>
            <a:r>
              <a:t>업무 비효율 심화</a:t>
            </a:r>
          </a:p>
          <a:p>
            <a:pPr>
              <a:spcAft>
                <a:spcPts val="500"/>
              </a:spcAft>
              <a:defRPr sz="4800" b="1">
                <a:solidFill>
                  <a:srgbClr val="F5F5F5"/>
                </a:solidFill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sz="2000" b="1">
                <a:solidFill>
                  <a:srgbClr val="212121"/>
                </a:solidFill>
              </a:defRPr>
            </a:pPr>
            <a:r>
              <a:t>품질 문제</a:t>
            </a:r>
          </a:p>
          <a:p>
            <a:pPr>
              <a:spcAft>
                <a:spcPts val="2500"/>
              </a:spcAft>
              <a:defRPr sz="1300">
                <a:solidFill>
                  <a:srgbClr val="757575"/>
                </a:solidFill>
              </a:defRPr>
            </a:pPr>
            <a:r>
              <a:t>불량 원인 대응 지연 및</a:t>
            </a:r>
            <a:br/>
            <a:r>
              <a:t>재발 방지 체계 미흡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기회손실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002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5F5F5"/>
                </a:solidFill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>
                <a:solidFill>
                  <a:srgbClr val="FF3B30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3B30"/>
                </a:solidFill>
              </a:defRPr>
            </a:pPr>
            <a: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517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설비효율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9718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5F5F5"/>
                </a:solidFill>
              </a:defRPr>
            </a:pPr>
            <a: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0632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>
                <a:solidFill>
                  <a:srgbClr val="007AFF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718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007AFF"/>
                </a:solidFill>
              </a:defRPr>
            </a:pPr>
            <a: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0233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재발불량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43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5F5F5"/>
                </a:solidFill>
              </a:defRPr>
            </a:pPr>
            <a:r>
              <a:t>30건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>
                <a:solidFill>
                  <a:srgbClr val="34C759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343400"/>
            <a:ext cx="1371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34C759"/>
                </a:solidFill>
              </a:defRPr>
            </a:pPr>
            <a:r>
              <a:t>0건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전략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007AFF"/>
                </a:solidFill>
              </a:defRPr>
            </a:pPr>
            <a:r>
              <a:t>손실 시간 제로화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757575"/>
                </a:solidFill>
              </a:defRPr>
            </a:pPr>
            <a:r>
              <a:t>목표</a:t>
            </a:r>
          </a:p>
          <a:p>
            <a:pPr>
              <a:defRPr sz="2000" b="1">
                <a:solidFill>
                  <a:srgbClr val="212121"/>
                </a:solidFill>
              </a:defRPr>
            </a:pPr>
            <a:r>
              <a:t>손실시간 5% 감소 → 점당 가공비 직접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5F5F5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자동분석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57575"/>
                </a:solidFill>
              </a:defRPr>
            </a:pPr>
            <a:r>
              <a:t>MES DATA 활용</a:t>
            </a:r>
            <a:br/>
            <a:r>
              <a:t>이상 감지 및 C/T 모니터링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669280"/>
            <a:ext cx="2286000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383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5F5F5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순간유실 가시화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57575"/>
                </a:solidFill>
              </a:defRPr>
            </a:pPr>
            <a:r>
              <a:t>초 단위 손실 기록</a:t>
            </a:r>
            <a:br/>
            <a:r>
              <a:t>모바일 앱 원터치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5669280"/>
            <a:ext cx="2286000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3832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F5F5F5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TOP 10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663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57575"/>
                </a:solidFill>
              </a:defRPr>
            </a:pPr>
            <a:r>
              <a:t>손실 항목 순위화</a:t>
            </a:r>
            <a:br/>
            <a:r>
              <a:t>집중 타격 전략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5669280"/>
            <a:ext cx="2286000" cy="18288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전략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C759"/>
                </a:solidFill>
              </a:defRPr>
            </a:pPr>
            <a:r>
              <a:t>불량 재발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재발 불량 30% ↓ / 품질 불량 10% 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불량 사진 + MES 이력 즉시 공유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전 조 자동 알람 시스템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재발 불량 자동 추적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48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전략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B30"/>
                </a:solidFill>
              </a:defRPr>
            </a:pPr>
            <a:r>
              <a:t>설비 CAPA 증가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57575"/>
                </a:solidFill>
              </a:defRPr>
            </a:pPr>
            <a:r>
              <a:t>CAPA 증가 / OVERTIME 감소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C/T 단축 DEEP 분석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설비 효율 성능/PM 강화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</a:defRPr>
            </a:pPr>
            <a:r>
              <a:t>• 공정 최적화 (RADIAL2, SMD)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종합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400" b="1">
                <a:solidFill>
                  <a:srgbClr val="007AFF"/>
                </a:solidFill>
              </a:defRPr>
            </a:pPr>
            <a:r>
              <a:t>-10%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가공비 절감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38912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400" b="1">
                <a:solidFill>
                  <a:srgbClr val="34C759"/>
                </a:solidFill>
              </a:defRPr>
            </a:pPr>
            <a:r>
              <a:t>-10%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5212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품질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2286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6400" b="1">
                <a:solidFill>
                  <a:srgbClr val="FF3B30"/>
                </a:solidFill>
              </a:defRPr>
            </a:pPr>
            <a:r>
              <a:t>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120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57575"/>
                </a:solidFill>
              </a:defRPr>
            </a:pPr>
            <a:r>
              <a:t>손실시간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실행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5F5F5"/>
                </a:solidFill>
              </a:defRPr>
            </a:pPr>
            <a:r>
              <a:t>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개발/구축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TOOL 개발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모바일 앱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시스템 구축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645920"/>
            <a:ext cx="1371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37160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5F5F5"/>
                </a:solidFill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시범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파일럿 테스트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피드백 반영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645920"/>
            <a:ext cx="1371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37160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5F5F5"/>
                </a:solidFill>
              </a:defRPr>
            </a:pPr>
            <a: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전사 확대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전체 적용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교육 실시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모니터링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645920"/>
            <a:ext cx="13716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371600"/>
            <a:ext cx="1828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5F5F5"/>
                </a:solidFill>
              </a:defRPr>
            </a:pPr>
            <a: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</a:defRPr>
            </a:pPr>
            <a:r>
              <a:t>목표 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성과 점검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최적화</a:t>
            </a:r>
          </a:p>
          <a:p>
            <a:pPr>
              <a:spcAft>
                <a:spcPts val="400"/>
              </a:spcAft>
              <a:defRPr sz="1100">
                <a:solidFill>
                  <a:srgbClr val="757575"/>
                </a:solidFill>
              </a:defRPr>
            </a:pPr>
            <a:r>
              <a:t>• 차년도 계획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2026 최종 목표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▪ 기회손실 최소화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▪ 점당 가공비 직접 절감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▪ OH 달성</a:t>
            </a:r>
          </a:p>
          <a:p>
            <a:pPr>
              <a:spcAft>
                <a:spcPts val="1000"/>
              </a:spcAft>
              <a:defRPr sz="1600">
                <a:solidFill>
                  <a:srgbClr val="212121"/>
                </a:solidFill>
              </a:defRPr>
            </a:pPr>
            <a:r>
              <a:t>▪ OVERTIME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