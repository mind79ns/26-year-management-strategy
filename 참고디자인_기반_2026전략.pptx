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54360"/>
                </a:solidFill>
              </a:defRPr>
            </a:pPr>
            <a:r>
              <a:t>2026년 경영전략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5A5A6"/>
                </a:solidFill>
              </a:defRPr>
            </a:pPr>
            <a:r>
              <a:t>제조1팀 | 자동화 제조라인 스마트화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54360"/>
                </a:solidFill>
              </a:defRPr>
            </a:pPr>
            <a:r>
              <a:t>가공비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937760"/>
            <a:ext cx="146304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0" y="4937760"/>
            <a:ext cx="1463040" cy="2743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97480" y="48463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4846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49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t>10%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572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54360"/>
                </a:solidFill>
              </a:defRPr>
            </a:pPr>
            <a:r>
              <a:t>품질 개선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937760"/>
            <a:ext cx="146304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4937760"/>
            <a:ext cx="1463040" cy="274320"/>
          </a:xfrm>
          <a:prstGeom prst="round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74920" y="4846320"/>
            <a:ext cx="457200" cy="457200"/>
          </a:xfrm>
          <a:prstGeom prst="ellipse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4846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349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DADE2"/>
                </a:solidFill>
              </a:defRPr>
            </a:pPr>
            <a:r>
              <a:t>10%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572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54360"/>
                </a:solidFill>
              </a:defRPr>
            </a:pPr>
            <a:r>
              <a:t>손실시간 감소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146304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4937760"/>
            <a:ext cx="731520" cy="2743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40" y="4846320"/>
            <a:ext cx="457200" cy="457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846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349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5% 목표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1. 목표 및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이곳에 제품을 낳는 근원다.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41148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468880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97480" y="16459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4114800" cy="32004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01 느린 대응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설비 이상 DATA 집계 대응으로 기회 손실 발생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41148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1440180" cy="22860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8780" y="2423160"/>
            <a:ext cx="457200" cy="45720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8780" y="24231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4114800" cy="32004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02 반복 작업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수동적 원인 분석으로 업무 비효율 심화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41148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1975104" cy="2286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03704" y="3200400"/>
            <a:ext cx="457200" cy="457200"/>
          </a:xfrm>
          <a:prstGeom prst="ellipse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3704" y="32004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4114800" cy="32004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03 품질 문제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불량 원인 대응 지연 및 재발 방지 체계 미흡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69080"/>
            <a:ext cx="41148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069080"/>
            <a:ext cx="2057400" cy="228600"/>
          </a:xfrm>
          <a:prstGeom prst="round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86000" y="3977640"/>
            <a:ext cx="457200" cy="457200"/>
          </a:xfrm>
          <a:prstGeom prst="ellipse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9776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4114800" cy="32004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04 설비 효율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인력 한정으로 운영 LINE C/T 개선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이곳에는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980B9"/>
                </a:solidFill>
              </a:defRPr>
            </a:pPr>
            <a:r>
              <a:t>핵심목표를</a:t>
            </a:r>
            <a:br/>
            <a:r>
              <a:t>입력하세요!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1463040"/>
            <a:ext cx="1645920" cy="164592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81928" y="1709928"/>
            <a:ext cx="1152144" cy="11521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1709928"/>
            <a:ext cx="1152144" cy="11521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60%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3840480"/>
            <a:ext cx="3657600" cy="640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01 핵심 전략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MES DATA 활용 자동분석 TOOL → 순간유실 가시화 → 손실 5% 감소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617720"/>
            <a:ext cx="3657600" cy="640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3716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02 핵심 전략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불량 사진 즉시 공유 시스템 → 재발 불량 추적 → 품질 10%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2. 전략 1 : 손실 시간 제로화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MES DATA 활용 자동분석 → 순간유실 가시화 → TOP 10 집중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자동분석 TOOL 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011680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14600" y="228600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MES DATA 활용 이상 감지</a:t>
            </a:r>
            <a:br/>
            <a:r>
              <a:t>• C/T 변화 모니터링 활성화</a:t>
            </a:r>
            <a:br/>
            <a:r>
              <a:t>• 실시간 알람 시스템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순간유실 가시화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377440"/>
            <a:ext cx="1508760" cy="228600"/>
          </a:xfrm>
          <a:prstGeom prst="round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6320" y="2286000"/>
            <a:ext cx="457200" cy="457200"/>
          </a:xfrm>
          <a:prstGeom prst="ellipse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초 단위 손실 기록</a:t>
            </a:r>
            <a:br/>
            <a:r>
              <a:t>• 모바일 앱 원터치 입력</a:t>
            </a:r>
            <a:br/>
            <a:r>
              <a:t>• LINE별 일/주/월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TOP 10 집중 개선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377440"/>
            <a:ext cx="1005840" cy="228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286000"/>
            <a:ext cx="457200" cy="457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손실 항목 순위화</a:t>
            </a:r>
            <a:br/>
            <a:r>
              <a:t>• WORST 품목 집중 타격</a:t>
            </a:r>
            <a:br/>
            <a:r>
              <a:t>• 주간 리포트 자동화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목표 KPI: 손실시간 5% 감소 → 점당 가공비 직접 절감 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3. 전략 2 : 불량 재발 Zero 챌린지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불량 사진 즉시 공유 → 전 조 자동 알람 → 재발 불량 추적 → 재발 Zero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품질 즉시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011680" cy="228600"/>
          </a:xfrm>
          <a:prstGeom prst="round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14600" y="2286000"/>
            <a:ext cx="457200" cy="457200"/>
          </a:xfrm>
          <a:prstGeom prst="ellipse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불량 사진 + MES 이력</a:t>
            </a:r>
            <a:br/>
            <a:r>
              <a:t>• 모델/일자/LINE 자동 기록</a:t>
            </a:r>
            <a:br/>
            <a:r>
              <a:t>• 스마트폰 즉시 업로드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전 조 자동 알람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377440"/>
            <a:ext cx="1609344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46904" y="228600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공정/설비 태그 분류</a:t>
            </a:r>
            <a:br/>
            <a:r>
              <a:t>• 조치내용 메모 공유</a:t>
            </a:r>
            <a:br/>
            <a:r>
              <a:t>• 주간조→야간조 전달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재발 불량 추적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377440"/>
            <a:ext cx="1207008" cy="2286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79208" y="2286000"/>
            <a:ext cx="457200" cy="457200"/>
          </a:xfrm>
          <a:prstGeom prst="ellipse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9208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동일 불량 '재발' 표시</a:t>
            </a:r>
            <a:br/>
            <a:r>
              <a:t>• 월별 재발 추적</a:t>
            </a:r>
            <a:br/>
            <a:r>
              <a:t>• 재발 Zero KPI화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목표 KPI: 재발 불량 30% 감소 / 품질 불량 10% 감소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4. 전략 3 : 설비 CAPA 증가 및 공정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</a:defRPr>
            </a:pPr>
            <a:r>
              <a:t>C/T 단축 DEEP 분석 → 설비 효율 향상 → 공정 최적화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C/T 단축 개선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810512" cy="228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13432" y="2286000"/>
            <a:ext cx="457200" cy="457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P/G 운영 DEEP 분석</a:t>
            </a:r>
            <a:br/>
            <a:r>
              <a:t>• 최단거리 프로세스</a:t>
            </a:r>
            <a:br/>
            <a:r>
              <a:t>• 단 1초라도 줄이기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기본 BASE 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377440"/>
            <a:ext cx="1709928" cy="2286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47488" y="2286000"/>
            <a:ext cx="457200" cy="457200"/>
          </a:xfrm>
          <a:prstGeom prst="ellipse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설비 효율 유지</a:t>
            </a:r>
            <a:br/>
            <a:r>
              <a:t>• 성능/PM 활동 반복</a:t>
            </a:r>
            <a:br/>
            <a:r>
              <a:t>• 지속적 모니터링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645920"/>
            <a:ext cx="25603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4360"/>
                </a:solidFill>
              </a:defRPr>
            </a:pPr>
            <a:r>
              <a:t>공정 최적화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201168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377440"/>
            <a:ext cx="1408176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0376" y="228600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0376" y="22860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• RADIAL2 안정화</a:t>
            </a:r>
            <a:br/>
            <a:r>
              <a:t>• SMD LAY OUT 개선</a:t>
            </a:r>
            <a:br/>
            <a:r>
              <a:t>• 설비 배치 효율화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목표 KPI: CAPA 증가 / OVERTIME 감소 / OH 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4360"/>
                </a:solidFill>
              </a:defRPr>
            </a:pPr>
            <a:r>
              <a:t>5. 2026 실행 로드맵 및 종합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54360"/>
                </a:solidFill>
              </a:defRPr>
            </a:pPr>
            <a:r>
              <a:t>가공비 절감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1188720"/>
            <a:ext cx="1280160" cy="128016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1380744"/>
            <a:ext cx="896112" cy="8961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6464" y="1380744"/>
            <a:ext cx="896112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54360"/>
                </a:solidFill>
              </a:defRPr>
            </a:pPr>
            <a:r>
              <a:t>품질 개선</a:t>
            </a:r>
          </a:p>
        </p:txBody>
      </p:sp>
      <p:sp>
        <p:nvSpPr>
          <p:cNvPr id="9" name="Oval 8"/>
          <p:cNvSpPr/>
          <p:nvPr/>
        </p:nvSpPr>
        <p:spPr>
          <a:xfrm>
            <a:off x="4069080" y="1188720"/>
            <a:ext cx="1280160" cy="128016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61104" y="1380744"/>
            <a:ext cx="896112" cy="8961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380744"/>
            <a:ext cx="896112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5DADE2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54360"/>
                </a:solidFill>
              </a:defRPr>
            </a:pPr>
            <a:r>
              <a:t>손실시간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1188720"/>
            <a:ext cx="1280160" cy="1280160"/>
          </a:xfrm>
          <a:prstGeom prst="ellipse">
            <a:avLst/>
          </a:prstGeom>
          <a:solidFill>
            <a:srgbClr val="F0F0F0"/>
          </a:solidFill>
          <a:ln w="254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95744" y="1380744"/>
            <a:ext cx="896112" cy="8961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5744" y="1380744"/>
            <a:ext cx="896112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980B9"/>
                </a:solidFill>
              </a:defRPr>
            </a:pPr>
            <a:r>
              <a:t>Q1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909060"/>
            <a:ext cx="50292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909060"/>
            <a:ext cx="5029200" cy="2286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72200" y="381762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8176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TOOL 개발 / 시스템 구축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5DADE2"/>
                </a:solidFill>
              </a:defRPr>
            </a:pPr>
            <a:r>
              <a:t>Q2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549140"/>
            <a:ext cx="50292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4549140"/>
            <a:ext cx="3771900" cy="228600"/>
          </a:xfrm>
          <a:prstGeom prst="round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14900" y="4457700"/>
            <a:ext cx="457200" cy="457200"/>
          </a:xfrm>
          <a:prstGeom prst="ellipse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4900" y="44577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8056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파일럿 운영 / 피드백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Q3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189220"/>
            <a:ext cx="50292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71600" y="5189220"/>
            <a:ext cx="2514600" cy="228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7600" y="5097780"/>
            <a:ext cx="457200" cy="457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50977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2064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전사 확대 / 교육 실시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6072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54360"/>
                </a:solidFill>
              </a:defRPr>
            </a:pPr>
            <a:r>
              <a:t>Q4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829300"/>
            <a:ext cx="5029200" cy="22860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71600" y="5829300"/>
            <a:ext cx="1257300" cy="228600"/>
          </a:xfrm>
          <a:prstGeom prst="round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00300" y="5737860"/>
            <a:ext cx="457200" cy="457200"/>
          </a:xfrm>
          <a:prstGeom prst="ellipse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00300" y="57378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76072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154360"/>
                </a:solidFill>
              </a:defRPr>
            </a:pPr>
            <a:r>
              <a:t>목표 달성 / 성과 점검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